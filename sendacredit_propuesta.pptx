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47472"/>
            <a:ext cx="1078992" cy="6258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Cada caso entra en nuestro circuito con un punto de partida limpio, verificado y correctamente segmentado.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1  </a:t>
            </a:r>
            <a:r>
              <a:rPr sz="19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2  </a:t>
            </a:r>
            <a:r>
              <a:rPr sz="19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  <p:pic>
        <p:nvPicPr>
          <p:cNvPr id="25" name="Picture 24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3  </a:t>
            </a:r>
            <a:r>
              <a:rPr sz="19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4  </a:t>
            </a:r>
            <a:r>
              <a:rPr sz="19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Formalización y seguimiento de planes de pago</a:t>
            </a:r>
          </a:p>
        </p:txBody>
      </p:sp>
      <p:pic>
        <p:nvPicPr>
          <p:cNvPr id="25" name="Picture 24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5  </a:t>
            </a:r>
            <a:r>
              <a:rPr sz="19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6  </a:t>
            </a:r>
            <a:r>
              <a:rPr sz="19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KPIs de recuperación y productividad</a:t>
            </a:r>
          </a:p>
        </p:txBody>
      </p:sp>
      <p:pic>
        <p:nvPicPr>
          <p:cNvPr id="25" name="Picture 24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7  </a:t>
            </a:r>
            <a:r>
              <a:rPr sz="19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8  </a:t>
            </a:r>
            <a:r>
              <a:rPr sz="19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Sin costes fijos: solo pagamos si recuperamos</a:t>
            </a:r>
          </a:p>
        </p:txBody>
      </p:sp>
      <p:pic>
        <p:nvPicPr>
          <p:cNvPr id="25" name="Picture 24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6179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Acción disuasoria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9603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603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Identificación visible de la gestión por parte de Sendacredit como elemento disuasorio frente al impago.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6179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Ficheros de morosidad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9603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9603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Registro del deudor en ficheros de morosidad como medida adicional de presión y prevención.</a:t>
            </a:r>
          </a:p>
        </p:txBody>
      </p:sp>
      <p:pic>
        <p:nvPicPr>
          <p:cNvPr id="45" name="Picture 44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6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8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0" dur="38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2" dur="38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4" dur="38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6" dur="38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8" dur="3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0" dur="38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2" dur="3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4" dur="38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071055" y="0"/>
            <a:ext cx="5120640" cy="6858000"/>
          </a:xfrm>
          <a:prstGeom prst="rect">
            <a:avLst/>
          </a:prstGeom>
          <a:solidFill>
            <a:srgbClr val="060E24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3295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0896"/>
            <a:ext cx="1024128" cy="59399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417320"/>
            <a:ext cx="1554480" cy="27432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CONTACTO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01368"/>
            <a:ext cx="5852160" cy="10515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0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34640"/>
            <a:ext cx="34747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71800"/>
            <a:ext cx="5669280" cy="402336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Gran Vía 28, 4ª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madrid@sendacredit.com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5496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5496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53512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3512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53512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Diagonal 211, 3ª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barcelona@sendacredit.com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8072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48072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76088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76088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76088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Larios 12, 2ª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malaga@sendacredit.com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950">
                <a:solidFill>
                  <a:srgbClr val="2FDFE5"/>
                </a:solidFill>
              </a:rPr>
              <a:t>www.sendacredit.com</a:t>
            </a:r>
          </a:p>
        </p:txBody>
      </p:sp>
      <p:pic>
        <p:nvPicPr>
          <p:cNvPr id="29" name="Picture 28" descr="logo_hori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