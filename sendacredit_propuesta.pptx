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uilding_cropp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015" y="0"/>
            <a:ext cx="65836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08015" y="0"/>
            <a:ext cx="6583680" cy="6858000"/>
          </a:xfrm>
          <a:prstGeom prst="rect">
            <a:avLst/>
          </a:prstGeom>
          <a:solidFill>
            <a:srgbClr val="060E24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69915" y="0"/>
            <a:ext cx="38100" cy="68580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82880"/>
            <a:ext cx="1417320" cy="822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64208"/>
            <a:ext cx="5303520" cy="384048"/>
          </a:xfrm>
          <a:prstGeom prst="rect">
            <a:avLst/>
          </a:prstGeom>
          <a:noFill/>
        </p:spPr>
        <p:txBody lIns="0" tIns="0" rIns="0" bIns="0">
          <a:bodyPr wrap="none">
            <a:spAutoFit/>
          </a:bodyPr>
          <a:lstStyle/>
          <a:p>
            <a:pPr algn="l"/>
            <a:r>
              <a:rPr sz="1000" b="1">
                <a:solidFill>
                  <a:srgbClr val="2FDFE5"/>
                </a:solidFill>
              </a:rPr>
              <a:t>SENDACREDIT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2926080" cy="3175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49424"/>
            <a:ext cx="5669280" cy="2560320"/>
          </a:xfrm>
          <a:prstGeom prst="rect">
            <a:avLst/>
          </a:prstGeom>
          <a:noFill/>
        </p:spPr>
        <p:txBody lIns="0" tIns="0" rIns="0" bIns="0"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Circuito de</a:t>
            </a:r>
          </a:p>
          <a:p>
            <a:pPr algn="l"/>
            <a:r>
              <a:rPr sz="4200" b="1">
                <a:solidFill>
                  <a:srgbClr val="FFFFFF"/>
                </a:solidFill>
              </a:rPr>
              <a:t>gestión de</a:t>
            </a:r>
          </a:p>
          <a:p>
            <a:pPr algn="l"/>
            <a:r>
              <a:rPr sz="4200" b="1">
                <a:solidFill>
                  <a:srgbClr val="2FDFE5"/>
                </a:solidFill>
              </a:rPr>
              <a:t>expedientes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46320"/>
            <a:ext cx="5303520" cy="475488"/>
          </a:xfrm>
          <a:prstGeom prst="rect">
            <a:avLst/>
          </a:prstGeom>
          <a:noFill/>
        </p:spPr>
        <p:txBody lIns="0" tIns="0" rIns="0" bIns="0">
          <a:bodyPr wrap="none">
            <a:spAutoFit/>
          </a:bodyPr>
          <a:lstStyle/>
          <a:p>
            <a:pPr algn="l"/>
            <a:r>
              <a:rPr sz="1150" i="1">
                <a:solidFill>
                  <a:srgbClr val="C0E8FF"/>
                </a:solidFill>
              </a:rPr>
              <a:t>Propuesta de colaboración · Recuperación de deuda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375" y="6400800"/>
            <a:ext cx="2377440" cy="310896"/>
          </a:xfrm>
          <a:prstGeom prst="rect">
            <a:avLst/>
          </a:prstGeom>
          <a:noFill/>
        </p:spPr>
        <p:txBody lIns="50800" tIns="25400" rIns="50800" bIns="25400">
          <a:bodyPr wrap="none">
            <a:spAutoFit/>
          </a:bodyPr>
          <a:lstStyle/>
          <a:p>
            <a:pPr algn="r"/>
            <a:r>
              <a:rPr sz="850">
                <a:solidFill>
                  <a:srgbClr val="80A8CC"/>
                </a:solidFill>
              </a:rPr>
              <a:t>2025 – 2026</a:t>
            </a:r>
          </a:p>
        </p:txBody>
      </p:sp>
    </p:spTree>
  </p:cSld>
  <p:clrMapOvr>
    <a:masterClrMapping/>
  </p:clrMapOvr>
  <p:transition dur="550" spd="fast"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1737360" cy="301752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lIns="101600" tIns="25400" rIns="101600" bIns="25400">
          <a:bodyPr rtlCol="0" anchor="ctr" wrap="none"/>
          <a:lstStyle/>
          <a:p>
            <a:pPr algn="ctr"/>
            <a:r>
              <a:rPr sz="1100" b="1">
                <a:solidFill>
                  <a:srgbClr val="0A1638"/>
                </a:solidFill>
              </a:rP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8961120" cy="960120"/>
          </a:xfrm>
          <a:prstGeom prst="rect">
            <a:avLst/>
          </a:prstGeom>
          <a:noFill/>
        </p:spPr>
        <p:txBody lIns="0" tIns="0" rIns="0" bIns="0"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Inicio del </a:t>
            </a:r>
            <a:r>
              <a:rPr sz="4000" b="1">
                <a:solidFill>
                  <a:srgbClr val="2FDFE5"/>
                </a:solidFill>
              </a:rPr>
              <a:t>expediente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4389120" cy="3175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9265615" cy="384048"/>
          </a:xfrm>
          <a:prstGeom prst="rect">
            <a:avLst/>
          </a:prstGeom>
          <a:noFill/>
        </p:spPr>
        <p:txBody lIns="0" tIns="0" rIns="0" bIns="0">
          <a:bodyPr wrap="none">
            <a:spAutoFit/>
          </a:bodyPr>
          <a:lstStyle/>
          <a:p>
            <a:pPr algn="l"/>
            <a:r>
              <a:rPr sz="1300" i="1">
                <a:solidFill>
                  <a:srgbClr val="80A8CC"/>
                </a:solidFill>
              </a:rPr>
              <a:t>En un tiempo no superior a 48H para el inicio de las gestiones.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1  </a:t>
            </a:r>
            <a:r>
              <a:rPr sz="1900" b="1">
                <a:solidFill>
                  <a:srgbClr val="FFFFFF"/>
                </a:solidFill>
              </a:rPr>
              <a:t>Recepción e integración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Recepción de operaciones asignadas por nuestro cliente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Validación de datos y documentación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Integración en la plataforma de gestión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3299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3299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4467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2  </a:t>
            </a:r>
            <a:r>
              <a:rPr sz="1900" b="1">
                <a:solidFill>
                  <a:srgbClr val="FFFFFF"/>
                </a:solidFill>
              </a:rPr>
              <a:t>Clasificación y estrategia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7891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7891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Clasificación por antigüedad, importe, tipología y probabilidad de recuperación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Definición de la estrategia de gestión más adecuada para cada expediente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Valoración de la actividad o sector del cliente para personalizar el enfoque</a:t>
            </a:r>
          </a:p>
        </p:txBody>
      </p:sp>
    </p:spTree>
  </p:cSld>
  <p:clrMapOvr>
    <a:masterClrMapping/>
  </p:clrMapOvr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6" dur="38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3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0" dur="38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2" dur="38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38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6" dur="38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8" dur="38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0" dur="38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2" dur="38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4" dur="38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</p:timing>
  <p:transition dur="550" spd="fast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1737360" cy="301752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lIns="101600" tIns="25400" rIns="101600" bIns="25400">
          <a:bodyPr rtlCol="0" anchor="ctr" wrap="none"/>
          <a:lstStyle/>
          <a:p>
            <a:pPr algn="ctr"/>
            <a:r>
              <a:rPr sz="1100" b="1">
                <a:solidFill>
                  <a:srgbClr val="0A1638"/>
                </a:solidFill>
              </a:rPr>
              <a:t>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8961120" cy="960120"/>
          </a:xfrm>
          <a:prstGeom prst="rect">
            <a:avLst/>
          </a:prstGeom>
          <a:noFill/>
        </p:spPr>
        <p:txBody lIns="0" tIns="0" rIns="0" bIns="0"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Activación y </a:t>
            </a:r>
            <a:r>
              <a:rPr sz="4000" b="1">
                <a:solidFill>
                  <a:srgbClr val="2FDFE5"/>
                </a:solidFill>
              </a:rPr>
              <a:t>contacto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4389120" cy="3175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9265615" cy="384048"/>
          </a:xfrm>
          <a:prstGeom prst="rect">
            <a:avLst/>
          </a:prstGeom>
          <a:noFill/>
        </p:spPr>
        <p:txBody lIns="0" tIns="0" rIns="0" bIns="0">
          <a:bodyPr wrap="none">
            <a:spAutoFit/>
          </a:bodyPr>
          <a:lstStyle/>
          <a:p>
            <a:pPr algn="l"/>
            <a:r>
              <a:rPr sz="1300" i="1">
                <a:solidFill>
                  <a:srgbClr val="80A8CC"/>
                </a:solidFill>
              </a:rPr>
              <a:t>Multiplicamos los canales de contacto y buscamos siempre la vía amistosa para llegar a un acuerdo.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3  </a:t>
            </a:r>
            <a:r>
              <a:rPr sz="1900" b="1">
                <a:solidFill>
                  <a:srgbClr val="FFFFFF"/>
                </a:solidFill>
              </a:rPr>
              <a:t>Contactación multicanal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Primeras comunicaciones: teléfono, SMS, email y mensajería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Verificación de datos de contacto y situación del cliente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Búsqueda activa de datos en no contactados o sin localización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3299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3299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4467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4  </a:t>
            </a:r>
            <a:r>
              <a:rPr sz="1900" b="1">
                <a:solidFill>
                  <a:srgbClr val="FFFFFF"/>
                </a:solidFill>
              </a:rPr>
              <a:t>Acuerdos personalizados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7891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7891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Análisis de la capacidad de pago del deudor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Propuesta de acuerdos personalizados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Formalización y seguimiento de planes de pago</a:t>
            </a:r>
          </a:p>
        </p:txBody>
      </p:sp>
    </p:spTree>
  </p:cSld>
  <p:clrMapOvr>
    <a:masterClrMapping/>
  </p:clrMapOvr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6" dur="38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3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0" dur="38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2" dur="38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38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6" dur="38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8" dur="38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0" dur="38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2" dur="38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4" dur="38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</p:timing>
  <p:transition dur="550" spd="fast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1737360" cy="301752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lIns="101600" tIns="25400" rIns="101600" bIns="25400">
          <a:bodyPr rtlCol="0" anchor="ctr" wrap="none"/>
          <a:lstStyle/>
          <a:p>
            <a:pPr algn="ctr"/>
            <a:r>
              <a:rPr sz="1100" b="1">
                <a:solidFill>
                  <a:srgbClr val="0A1638"/>
                </a:solidFill>
              </a:rP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8961120" cy="960120"/>
          </a:xfrm>
          <a:prstGeom prst="rect">
            <a:avLst/>
          </a:prstGeom>
          <a:noFill/>
        </p:spPr>
        <p:txBody lIns="0" tIns="0" rIns="0" bIns="0"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Gestión </a:t>
            </a:r>
            <a:r>
              <a:rPr sz="4000" b="1">
                <a:solidFill>
                  <a:srgbClr val="2FDFE5"/>
                </a:solidFill>
              </a:rPr>
              <a:t>continuada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4389120" cy="3175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9265615" cy="384048"/>
          </a:xfrm>
          <a:prstGeom prst="rect">
            <a:avLst/>
          </a:prstGeom>
          <a:noFill/>
        </p:spPr>
        <p:txBody lIns="0" tIns="0" rIns="0" bIns="0">
          <a:bodyPr wrap="none">
            <a:spAutoFit/>
          </a:bodyPr>
          <a:lstStyle/>
          <a:p>
            <a:pPr algn="l"/>
            <a:r>
              <a:rPr sz="1300" i="1">
                <a:solidFill>
                  <a:srgbClr val="80A8CC"/>
                </a:solidFill>
              </a:rPr>
              <a:t>El seguimiento constante y la transparencia en el reporting mantienen cada expediente bajo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5  </a:t>
            </a:r>
            <a:r>
              <a:rPr sz="1900" b="1">
                <a:solidFill>
                  <a:srgbClr val="FFFFFF"/>
                </a:solidFill>
              </a:rPr>
              <a:t>Monitorización activa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Monitorización activa de los acuerdos alcanzados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Recordatorios preventivos de vencimiento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Reactivación inmediata ante incidencias o incumplimientos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3299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3299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4467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6  </a:t>
            </a:r>
            <a:r>
              <a:rPr sz="1900" b="1">
                <a:solidFill>
                  <a:srgbClr val="FFFFFF"/>
                </a:solidFill>
              </a:rPr>
              <a:t>Reporting y resultados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7891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7891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Actualización permanente del estado de cada expediente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Informes periódicos de actividad y resultados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KPIs de recuperación y productividad</a:t>
            </a:r>
          </a:p>
        </p:txBody>
      </p:sp>
    </p:spTree>
  </p:cSld>
  <p:clrMapOvr>
    <a:masterClrMapping/>
  </p:clrMapOvr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6" dur="38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3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0" dur="38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2" dur="38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38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6" dur="38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8" dur="38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0" dur="38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2" dur="38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4" dur="38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</p:timing>
  <p:transition dur="550" spd="fast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1737360" cy="301752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lIns="101600" tIns="25400" rIns="101600" bIns="25400">
          <a:bodyPr rtlCol="0" anchor="ctr" wrap="none"/>
          <a:lstStyle/>
          <a:p>
            <a:pPr algn="ctr"/>
            <a:r>
              <a:rPr sz="1100" b="1">
                <a:solidFill>
                  <a:srgbClr val="0A1638"/>
                </a:solidFill>
              </a:rP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8961120" cy="960120"/>
          </a:xfrm>
          <a:prstGeom prst="rect">
            <a:avLst/>
          </a:prstGeom>
          <a:noFill/>
        </p:spPr>
        <p:txBody lIns="0" tIns="0" rIns="0" bIns="0"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Cierre y </a:t>
            </a:r>
            <a:r>
              <a:rPr sz="4000" b="1">
                <a:solidFill>
                  <a:srgbClr val="2FDFE5"/>
                </a:solidFill>
              </a:rPr>
              <a:t>condiciones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4389120" cy="3175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9265615" cy="384048"/>
          </a:xfrm>
          <a:prstGeom prst="rect">
            <a:avLst/>
          </a:prstGeom>
          <a:noFill/>
        </p:spPr>
        <p:txBody lIns="0" tIns="0" rIns="0" bIns="0">
          <a:bodyPr wrap="none">
            <a:spAutoFit/>
          </a:bodyPr>
          <a:lstStyle/>
          <a:p>
            <a:pPr algn="l"/>
            <a:r>
              <a:rPr sz="1300" i="1">
                <a:solidFill>
                  <a:srgbClr val="80A8CC"/>
                </a:solidFill>
              </a:rPr>
              <a:t>Solo facturamos cuando recuperamos: nuestros incentivos están alineados con los de nuestro cliente.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7  </a:t>
            </a:r>
            <a:r>
              <a:rPr sz="1900" b="1">
                <a:solidFill>
                  <a:srgbClr val="FFFFFF"/>
                </a:solidFill>
              </a:rPr>
              <a:t>Cierre del expediente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Expedientes recuperados o finalizados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Entrega de resultados y documentación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Análisis de rendimiento y propuestas de mejora continua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3299" y="2267712"/>
            <a:ext cx="5579211" cy="3328416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3299" y="2267712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4467" y="2487168"/>
            <a:ext cx="5176875" cy="640080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900" b="1">
                <a:solidFill>
                  <a:srgbClr val="2FDFE5"/>
                </a:solidFill>
              </a:rPr>
              <a:t>8  </a:t>
            </a:r>
            <a:r>
              <a:rPr sz="1900" b="1">
                <a:solidFill>
                  <a:srgbClr val="FFFFFF"/>
                </a:solidFill>
              </a:rPr>
              <a:t>Honorarios y condiciones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7891" y="3218688"/>
            <a:ext cx="5250027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7891" y="3345688"/>
            <a:ext cx="5250027" cy="2249424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Servicio de recobro amistoso a éxito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Retribución escalada según tipología de deuda</a:t>
            </a:r>
          </a:p>
          <a:p>
            <a:pPr algn="l">
              <a:spcBef>
                <a:spcPts val="1800"/>
              </a:spcBef>
            </a:pPr>
            <a:r>
              <a:rPr sz="1400">
                <a:solidFill>
                  <a:srgbClr val="2FDFE5"/>
                </a:solidFill>
              </a:rPr>
              <a:t>▸  </a:t>
            </a:r>
            <a:r>
              <a:rPr sz="1700">
                <a:solidFill>
                  <a:srgbClr val="D8EAFF"/>
                </a:solidFill>
              </a:rPr>
              <a:t>Sin costes fijos: solo cobramos si recuperamos</a:t>
            </a:r>
          </a:p>
        </p:txBody>
      </p:sp>
    </p:spTree>
  </p:cSld>
  <p:clrMapOvr>
    <a:masterClrMapping/>
  </p:clrMapOvr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6" dur="38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3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0" dur="38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2" dur="38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38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6" dur="38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18" dur="38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0" dur="38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2" dur="38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24" dur="38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</p:timing>
  <p:transition dur="550" spd="fast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1737360" cy="301752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lIns="101600" tIns="25400" rIns="101600" bIns="25400">
          <a:bodyPr rtlCol="0" anchor="ctr" wrap="none"/>
          <a:lstStyle/>
          <a:p>
            <a:pPr algn="ctr"/>
            <a:r>
              <a:rPr sz="1100" b="1">
                <a:solidFill>
                  <a:srgbClr val="0A1638"/>
                </a:solidFill>
              </a:rPr>
              <a:t>FASE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8961120" cy="960120"/>
          </a:xfrm>
          <a:prstGeom prst="rect">
            <a:avLst/>
          </a:prstGeom>
          <a:noFill/>
        </p:spPr>
        <p:txBody lIns="0" tIns="0" rIns="0" bIns="0"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Servicios </a:t>
            </a:r>
            <a:r>
              <a:rPr sz="4000" b="1">
                <a:solidFill>
                  <a:srgbClr val="2FDFE5"/>
                </a:solidFill>
              </a:rPr>
              <a:t>adicionales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4389120" cy="3175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579211" cy="1993392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213451" cy="585216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700" b="1">
                <a:solidFill>
                  <a:srgbClr val="2FDFE5"/>
                </a:solidFill>
              </a:rPr>
              <a:t>1  </a:t>
            </a:r>
            <a:r>
              <a:rPr sz="1700" b="1">
                <a:solidFill>
                  <a:srgbClr val="FFFFFF"/>
                </a:solidFill>
              </a:rPr>
              <a:t>Vía monitoria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2779776"/>
            <a:ext cx="5286603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881376"/>
            <a:ext cx="5286603" cy="1005840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/>
            <a:r>
              <a:rPr sz="1500">
                <a:solidFill>
                  <a:srgbClr val="D8EAFF"/>
                </a:solidFill>
              </a:rPr>
              <a:t>Tramitación de procedimientos monitorios para reclamar la deuda por vía judicial cuando la vía amistosa no es suficiente.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3299" y="1920240"/>
            <a:ext cx="5579211" cy="1993392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3299" y="1920240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6179" y="2103120"/>
            <a:ext cx="5213451" cy="585216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700" b="1">
                <a:solidFill>
                  <a:srgbClr val="2FDFE5"/>
                </a:solidFill>
              </a:rPr>
              <a:t>2  </a:t>
            </a:r>
            <a:r>
              <a:rPr sz="1700" b="1">
                <a:solidFill>
                  <a:srgbClr val="FFFFFF"/>
                </a:solidFill>
              </a:rPr>
              <a:t>Valoración y compra de carteras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9603" y="2779776"/>
            <a:ext cx="5286603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9603" y="2881376"/>
            <a:ext cx="5286603" cy="1005840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/>
            <a:r>
              <a:rPr sz="1500">
                <a:solidFill>
                  <a:srgbClr val="D8EAFF"/>
                </a:solidFill>
              </a:rPr>
              <a:t>Análisis, valoración y adquisición de carteras de deuda fallida para maximizar la recuperación de activos.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59936"/>
            <a:ext cx="5579211" cy="1993392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59936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42816"/>
            <a:ext cx="5213451" cy="585216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700" b="1">
                <a:solidFill>
                  <a:srgbClr val="2FDFE5"/>
                </a:solidFill>
              </a:rPr>
              <a:t>3  </a:t>
            </a:r>
            <a:r>
              <a:rPr sz="1700" b="1">
                <a:solidFill>
                  <a:srgbClr val="FFFFFF"/>
                </a:solidFill>
              </a:rPr>
              <a:t>Análisis de solvencia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" y="4919472"/>
            <a:ext cx="5286603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21072"/>
            <a:ext cx="5286603" cy="1005840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/>
            <a:r>
              <a:rPr sz="1500">
                <a:solidFill>
                  <a:srgbClr val="D8EAFF"/>
                </a:solidFill>
              </a:rPr>
              <a:t>Estudio de la capacidad económica real del deudor para orientar mejor la estrategia de recobro.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3299" y="4059936"/>
            <a:ext cx="5579211" cy="1993392"/>
          </a:xfrm>
          <a:prstGeom prst="rect">
            <a:avLst/>
          </a:prstGeom>
          <a:solidFill>
            <a:srgbClr val="081438"/>
          </a:solidFill>
          <a:ln w="1270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3299" y="4059936"/>
            <a:ext cx="5579211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6179" y="4242816"/>
            <a:ext cx="5213451" cy="585216"/>
          </a:xfrm>
          <a:prstGeom prst="rect">
            <a:avLst/>
          </a:prstGeom>
          <a:noFill/>
        </p:spPr>
        <p:txBody lIns="38100" tIns="63500" rIns="38100" bIns="25400">
          <a:bodyPr wrap="square">
            <a:spAutoFit/>
          </a:bodyPr>
          <a:lstStyle/>
          <a:p>
            <a:pPr algn="l"/>
            <a:r>
              <a:rPr sz="1700" b="1">
                <a:solidFill>
                  <a:srgbClr val="2FDFE5"/>
                </a:solidFill>
              </a:rPr>
              <a:t>4  </a:t>
            </a:r>
            <a:r>
              <a:rPr sz="1700" b="1">
                <a:solidFill>
                  <a:srgbClr val="FFFFFF"/>
                </a:solidFill>
              </a:rPr>
              <a:t>Sello preventivo Sendacredit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29603" y="4919472"/>
            <a:ext cx="5286603" cy="1905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9603" y="5021072"/>
            <a:ext cx="4079595" cy="1005840"/>
          </a:xfrm>
          <a:prstGeom prst="rect">
            <a:avLst/>
          </a:prstGeom>
          <a:noFill/>
        </p:spPr>
        <p:txBody lIns="50800" tIns="50800" rIns="50800" bIns="50800">
          <a:bodyPr wrap="square">
            <a:spAutoFit/>
          </a:bodyPr>
          <a:lstStyle/>
          <a:p>
            <a:pPr algn="l"/>
            <a:r>
              <a:rPr sz="1500">
                <a:solidFill>
                  <a:srgbClr val="D8EAFF"/>
                </a:solidFill>
              </a:rPr>
              <a:t>Siéntase protegido frente a sus impagados.</a:t>
            </a:r>
          </a:p>
        </p:txBody>
      </p:sp>
      <p:pic>
        <p:nvPicPr>
          <p:cNvPr id="28" name="Picture 27" descr="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351" y="4966208"/>
            <a:ext cx="1115568" cy="1115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6" dur="38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38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0" dur="3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2" dur="38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38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"/>
                            </p:stCondLst>
                            <p:childTnLst>
                              <p:animEffect transition="in" filter="wipe(up)">
                                <p:cBhvr>
                                  <p:cTn id="16" dur="38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"/>
                            </p:stCondLst>
                            <p:childTnLst>
                              <p:animEffect transition="in" filter="wipe(up)">
                                <p:cBhvr>
                                  <p:cTn id="18" dur="38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"/>
                            </p:stCondLst>
                            <p:childTnLst>
                              <p:animEffect transition="in" filter="wipe(up)">
                                <p:cBhvr>
                                  <p:cTn id="20" dur="38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"/>
                            </p:stCondLst>
                            <p:childTnLst>
                              <p:animEffect transition="in" filter="wipe(up)">
                                <p:cBhvr>
                                  <p:cTn id="22" dur="38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"/>
                            </p:stCondLst>
                            <p:childTnLst>
                              <p:animEffect transition="in" filter="wipe(up)">
                                <p:cBhvr>
                                  <p:cTn id="24" dur="38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"/>
                            </p:stCondLst>
                            <p:childTnLst>
                              <p:animEffect transition="in" filter="wipe(up)">
                                <p:cBhvr>
                                  <p:cTn id="26" dur="38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"/>
                            </p:stCondLst>
                            <p:childTnLst>
                              <p:animEffect transition="in" filter="wipe(up)">
                                <p:cBhvr>
                                  <p:cTn id="28" dur="38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0"/>
                            </p:stCondLst>
                            <p:childTnLst>
                              <p:animEffect transition="in" filter="wipe(up)">
                                <p:cBhvr>
                                  <p:cTn id="30" dur="38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"/>
                            </p:stCondLst>
                            <p:childTnLst>
                              <p:animEffect transition="in" filter="wipe(up)">
                                <p:cBhvr>
                                  <p:cTn id="32" dur="38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0"/>
                            </p:stCondLst>
                            <p:childTnLst>
                              <p:animEffect transition="in" filter="wipe(up)">
                                <p:cBhvr>
                                  <p:cTn id="34" dur="38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0"/>
                            </p:stCondLst>
                            <p:childTnLst>
                              <p:animEffect transition="in" filter="wipe(up)">
                                <p:cBhvr>
                                  <p:cTn id="36" dur="38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20"/>
                            </p:stCondLst>
                            <p:childTnLst>
                              <p:animEffect transition="in" filter="wipe(up)">
                                <p:cBhvr>
                                  <p:cTn id="38" dur="38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20"/>
                            </p:stCondLst>
                            <p:childTnLst>
                              <p:animEffect transition="in" filter="wipe(up)">
                                <p:cBhvr>
                                  <p:cTn id="40" dur="38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0"/>
                            </p:stCondLst>
                            <p:childTnLst>
                              <p:animEffect transition="in" filter="wipe(up)">
                                <p:cBhvr>
                                  <p:cTn id="42" dur="38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0"/>
                            </p:stCondLst>
                            <p:childTnLst>
                              <p:animEffect transition="in" filter="wipe(up)">
                                <p:cBhvr>
                                  <p:cTn id="44" dur="38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</p:timing>
  <p:transition dur="550" spd="fast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1024128" cy="5939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389888"/>
            <a:ext cx="1554480" cy="27432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lIns="101600" tIns="25400" rIns="101600" bIns="25400">
          <a:bodyPr rtlCol="0" anchor="ctr" wrap="none"/>
          <a:lstStyle/>
          <a:p>
            <a:pPr algn="ctr"/>
            <a:r>
              <a:rPr sz="1100" b="1">
                <a:solidFill>
                  <a:srgbClr val="0A1638"/>
                </a:solidFill>
              </a:rPr>
              <a:t>CONTACTO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1323015" cy="1280160"/>
          </a:xfrm>
          <a:prstGeom prst="rect">
            <a:avLst/>
          </a:prstGeom>
          <a:noFill/>
        </p:spPr>
        <p:txBody lIns="0" tIns="0" rIns="0" bIns="0"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Hablemos de tu </a:t>
            </a:r>
          </a:p>
          <a:p>
            <a:pPr algn="l"/>
            <a:r>
              <a:rPr sz="3800" b="1">
                <a:solidFill>
                  <a:srgbClr val="2FDFE5"/>
                </a:solidFill>
              </a:rPr>
              <a:t>cartera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27248"/>
            <a:ext cx="11323015" cy="3175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55264"/>
            <a:ext cx="11323015" cy="365760"/>
          </a:xfrm>
          <a:prstGeom prst="rect">
            <a:avLst/>
          </a:prstGeom>
          <a:noFill/>
        </p:spPr>
        <p:txBody lIns="0" tIns="0" rIns="0" bIns="0">
          <a:bodyPr wrap="none">
            <a:spAutoFit/>
          </a:bodyPr>
          <a:lstStyle/>
          <a:p>
            <a:pPr algn="l"/>
            <a:r>
              <a:rPr sz="1300" i="1">
                <a:solidFill>
                  <a:srgbClr val="C0E8FF"/>
                </a:solidFill>
              </a:rPr>
              <a:t>Nuestros equipos están disponibles para comenzar de inmediato.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30752"/>
            <a:ext cx="3603650" cy="2304288"/>
          </a:xfrm>
          <a:prstGeom prst="rect">
            <a:avLst/>
          </a:prstGeom>
          <a:solidFill>
            <a:srgbClr val="081438"/>
          </a:solidFill>
          <a:ln w="1016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730752"/>
            <a:ext cx="3603650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950208"/>
            <a:ext cx="3201314" cy="384048"/>
          </a:xfrm>
          <a:prstGeom prst="rect">
            <a:avLst/>
          </a:prstGeom>
          <a:noFill/>
        </p:spPr>
        <p:txBody lIns="38100" tIns="25400" rIns="38100" bIns="25400">
          <a:bodyPr wrap="none">
            <a:spAutoFit/>
          </a:bodyPr>
          <a:lstStyle/>
          <a:p>
            <a:pPr algn="l"/>
            <a:r>
              <a:rPr sz="1700" b="1">
                <a:solidFill>
                  <a:srgbClr val="2FDFE5"/>
                </a:solidFill>
              </a:rPr>
              <a:t>MADRID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4389120"/>
            <a:ext cx="3274466" cy="127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516120"/>
            <a:ext cx="3201314" cy="1572768"/>
          </a:xfrm>
          <a:prstGeom prst="rect">
            <a:avLst/>
          </a:prstGeom>
          <a:noFill/>
        </p:spPr>
        <p:txBody lIns="38100" tIns="38100" rIns="38100" bIns="38100"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>
                <a:solidFill>
                  <a:srgbClr val="D8EAFF"/>
                </a:solidFill>
              </a:rPr>
              <a:t>Gran Vía 28, 4ª planta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2FDFE5"/>
                </a:solidFill>
              </a:rPr>
              <a:t>+34 910 000 001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80A8CC"/>
                </a:solidFill>
              </a:rPr>
              <a:t>madrid@sendacredit.com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0890" y="3730752"/>
            <a:ext cx="3603650" cy="2304288"/>
          </a:xfrm>
          <a:prstGeom prst="rect">
            <a:avLst/>
          </a:prstGeom>
          <a:solidFill>
            <a:srgbClr val="081438"/>
          </a:solidFill>
          <a:ln w="1016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0890" y="3730752"/>
            <a:ext cx="3603650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2058" y="3950208"/>
            <a:ext cx="3201314" cy="384048"/>
          </a:xfrm>
          <a:prstGeom prst="rect">
            <a:avLst/>
          </a:prstGeom>
          <a:noFill/>
        </p:spPr>
        <p:txBody lIns="38100" tIns="25400" rIns="38100" bIns="25400">
          <a:bodyPr wrap="none">
            <a:spAutoFit/>
          </a:bodyPr>
          <a:lstStyle/>
          <a:p>
            <a:pPr algn="l"/>
            <a:r>
              <a:rPr sz="1700" b="1">
                <a:solidFill>
                  <a:srgbClr val="2FDFE5"/>
                </a:solidFill>
              </a:rPr>
              <a:t>BARCELONA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5482" y="4389120"/>
            <a:ext cx="3274466" cy="127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2058" y="4516120"/>
            <a:ext cx="3201314" cy="1572768"/>
          </a:xfrm>
          <a:prstGeom prst="rect">
            <a:avLst/>
          </a:prstGeom>
          <a:noFill/>
        </p:spPr>
        <p:txBody lIns="38100" tIns="38100" rIns="38100" bIns="38100"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>
                <a:solidFill>
                  <a:srgbClr val="D8EAFF"/>
                </a:solidFill>
              </a:rPr>
              <a:t>Diagonal 211, 3ª planta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2FDFE5"/>
                </a:solidFill>
              </a:rPr>
              <a:t>+34 932 000 002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80A8CC"/>
                </a:solidFill>
              </a:rPr>
              <a:t>barcelona@sendacredit.com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8860" y="3730752"/>
            <a:ext cx="3603650" cy="2304288"/>
          </a:xfrm>
          <a:prstGeom prst="rect">
            <a:avLst/>
          </a:prstGeom>
          <a:solidFill>
            <a:srgbClr val="081438"/>
          </a:solidFill>
          <a:ln w="10160">
            <a:solidFill>
              <a:srgbClr val="2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58860" y="3730752"/>
            <a:ext cx="3603650" cy="63500"/>
          </a:xfrm>
          <a:prstGeom prst="rect">
            <a:avLst/>
          </a:prstGeom>
          <a:solidFill>
            <a:srgbClr val="2F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0028" y="3950208"/>
            <a:ext cx="3201314" cy="384048"/>
          </a:xfrm>
          <a:prstGeom prst="rect">
            <a:avLst/>
          </a:prstGeom>
          <a:noFill/>
        </p:spPr>
        <p:txBody lIns="38100" tIns="25400" rIns="38100" bIns="25400">
          <a:bodyPr wrap="none">
            <a:spAutoFit/>
          </a:bodyPr>
          <a:lstStyle/>
          <a:p>
            <a:pPr algn="l"/>
            <a:r>
              <a:rPr sz="1700" b="1">
                <a:solidFill>
                  <a:srgbClr val="2FDFE5"/>
                </a:solidFill>
              </a:rPr>
              <a:t>MÁLAGA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23452" y="4389120"/>
            <a:ext cx="3274466" cy="12700"/>
          </a:xfrm>
          <a:prstGeom prst="rect">
            <a:avLst/>
          </a:prstGeom>
          <a:solidFill>
            <a:srgbClr val="13B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0028" y="4516120"/>
            <a:ext cx="3201314" cy="1572768"/>
          </a:xfrm>
          <a:prstGeom prst="rect">
            <a:avLst/>
          </a:prstGeom>
          <a:noFill/>
        </p:spPr>
        <p:txBody lIns="38100" tIns="38100" rIns="38100" bIns="38100"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>
                <a:solidFill>
                  <a:srgbClr val="D8EAFF"/>
                </a:solidFill>
              </a:rPr>
              <a:t>Larios 12, 2ª planta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2FDFE5"/>
                </a:solidFill>
              </a:rPr>
              <a:t>+34 952 000 003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80A8CC"/>
                </a:solidFill>
              </a:rPr>
              <a:t>malaga@sendacredit.com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 lIns="0" tIns="25400" rIns="0" bIns="25400">
          <a:bodyPr wrap="none">
            <a:spAutoFit/>
          </a:bodyPr>
          <a:lstStyle/>
          <a:p>
            <a:pPr algn="l"/>
            <a:r>
              <a:rPr sz="1000">
                <a:solidFill>
                  <a:srgbClr val="2FDFE5"/>
                </a:solidFill>
              </a:rPr>
              <a:t>www.sendacredit.com</a:t>
            </a:r>
          </a:p>
        </p:txBody>
      </p:sp>
    </p:spTree>
  </p:cSld>
  <p:clrMapOvr>
    <a:masterClrMapping/>
  </p:clrMapOvr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6" dur="4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60"/>
                            </p:stCondLst>
                            <p:childTnLst>
                              <p:animEffect transition="in" filter="wipe(up)">
                                <p:cBhvr>
                                  <p:cTn id="8" dur="45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20"/>
                            </p:stCondLst>
                            <p:childTnLst>
                              <p:animEffect transition="in" filter="wipe(up)">
                                <p:cBhvr>
                                  <p:cTn id="10" dur="45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</p:timing>
  <p:transition dur="550" spd="fast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