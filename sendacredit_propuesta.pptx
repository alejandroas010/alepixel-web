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51560" cy="6099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00200"/>
            <a:ext cx="548640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5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066543"/>
            <a:ext cx="27432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12848"/>
            <a:ext cx="5852160" cy="22860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700" b="1">
                <a:solidFill>
                  <a:srgbClr val="FFFFFF"/>
                </a:solidFill>
              </a:rPr>
              <a:t>Circuito de gestión</a:t>
            </a:r>
          </a:p>
          <a:p>
            <a:pPr algn="l"/>
            <a:r>
              <a:rPr sz="3700" b="1">
                <a:solidFill>
                  <a:srgbClr val="2FDFE5"/>
                </a:solidFill>
              </a:rPr>
              <a:t>de 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45152"/>
            <a:ext cx="5120640" cy="438912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2815" y="6419088"/>
            <a:ext cx="2286000" cy="292608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0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0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60E2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Recepción y </a:t>
            </a:r>
            <a:r>
              <a:rPr sz="2900" b="1">
                <a:solidFill>
                  <a:srgbClr val="2FDFE5"/>
                </a:solidFill>
              </a:rPr>
              <a:t>validación de cartera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Recepción de fichero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Integración vía SFTP seguro o API REST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Formatos: CSV, Excel, XML, JSON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Hasta 100.000 registros por lote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Acuse con hash de integridad automático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Validación y limpieza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Deduplicación y normalización de datos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Verificación de DNI/NIE y datos civiles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Actualización de contactos (ASNEF, GGSS)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de calidad de cartera en 24 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Segmentación inicial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Clasificación por antigüedad e importe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Scoring de cobrabilidad con modelo ML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Asignación de canal de recobro óptimo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Priorización por rentabilidad esperada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60E2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Gestión amistosa </a:t>
            </a:r>
            <a:r>
              <a:rPr sz="2900" b="1">
                <a:solidFill>
                  <a:srgbClr val="2FDFE5"/>
                </a:solidFill>
              </a:rPr>
              <a:t>y negociación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Llamadas outbound con IVR especializado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SMS, email y WhatsApp Business certificado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Cartas físicas certificadas cuando procede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Ventana de contacto 8:00-22:00, L-S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Negociación de acuerdos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Quitas y daciones dentro de límites pactados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Planes de pago de 3 a 48 meses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Firma de acuerdos digitales con validez legal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Grabación de llamadas como respaldo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Seguimiento y cobro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Domiciliación SEPA y pasarela de pago online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Recordatorios automáticos de vencimientos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Renegociación ante impagos parciales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Dashboard de seguimiento en tiempo real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60E2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Vía </a:t>
            </a:r>
            <a:r>
              <a:rPr sz="2900" b="1">
                <a:solidFill>
                  <a:srgbClr val="2FDFE5"/>
                </a:solidFill>
              </a:rPr>
              <a:t>judicial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Análisis de viabilidad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Revisión de prescripción y documentación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Estudio de solvencia y localización de bienes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Valoración coste-beneficio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Decisión de elevación judicial en 48-72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Proceso judicial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Interposición de monitorio o juicio verbal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Red de letrados en todas las CC.AA.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Coordinación con procuradores y notificaciones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Reporting de estado mensual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Ejecución y cobro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Embargo de cuentas, nóminas e inmuebles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Seguimiento de subastas judiciales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y transferencia en 5 días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Acta de cierre con detalle de costas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60E2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41248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Reporting </a:t>
            </a:r>
            <a:r>
              <a:rPr sz="2900" b="1">
                <a:solidFill>
                  <a:srgbClr val="2FDFE5"/>
                </a:solidFill>
              </a:rPr>
              <a:t>y liquidación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5800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Informes periódicos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Informe semanal de actividad y contactaciones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Reporte mensual de recuperación y aging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Cuadro de mando ejecutivo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Exportación en PDF, Excel y API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1098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4522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Liquidación y remesas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66234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4522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Liquidación quincenal por expediente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Transferencia SEPA en T+2 hábiles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Conciliación automática con ERP/CRM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Facturación electrónica certificada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3516" y="1719072"/>
            <a:ext cx="3688994" cy="4443984"/>
          </a:xfrm>
          <a:prstGeom prst="rect">
            <a:avLst/>
          </a:prstGeom>
          <a:solidFill>
            <a:srgbClr val="0E1E4A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73516" y="1719072"/>
            <a:ext cx="3688994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56396" y="1901952"/>
            <a:ext cx="228600" cy="228600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6396" y="1901952"/>
            <a:ext cx="228600" cy="228600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9820" y="2221992"/>
            <a:ext cx="3396386" cy="51206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Control de calidad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01532" y="2752344"/>
            <a:ext cx="3432962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9820" y="2828544"/>
            <a:ext cx="3414674" cy="3243072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Auditoría interna mensual de procesos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Mystery calling y escucha de grabaciones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Comité de mejora continua trimestral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• </a:t>
            </a:r>
            <a:r>
              <a:rPr sz="750">
                <a:solidFill>
                  <a:srgbClr val="E4EEFF"/>
                </a:solidFill>
              </a:rPr>
              <a:t>Certificación ISO 9001 y cumplimiento RGPD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E24">
              <a:alpha val="4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60E2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365760"/>
            <a:ext cx="137160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94944"/>
            <a:ext cx="8229600" cy="69494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Servicios </a:t>
            </a:r>
            <a:r>
              <a:rPr sz="29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402336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1755648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Gestión de Cobro Amistoso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Negociación extrajudicial, planes de pago personalizados y seguimiento continuo hasta la resolución del expediente.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4155" y="1755648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4155" y="1755648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29603" y="1901952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9603" y="1901952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4779" y="1901952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Recobro Judicial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2171" y="2157984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2171" y="2221484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Interposición de demandas, coordinación con letrados y ejecución de sentencias a través de procuradores especializados.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23360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8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Scoring &amp; Segmentación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Análisis predictivo de cartera para priorizar expedientes con mayor probabilidad de cobro y optimizar recursos.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4155" y="4023360"/>
            <a:ext cx="5588355" cy="2139696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4155" y="4023360"/>
            <a:ext cx="558835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29603" y="4169664"/>
            <a:ext cx="201168" cy="201168"/>
          </a:xfrm>
          <a:prstGeom prst="ellipse">
            <a:avLst/>
          </a:prstGeom>
          <a:solidFill>
            <a:srgbClr val="1A3A7A"/>
          </a:solidFill>
          <a:ln w="1143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9603" y="4169664"/>
            <a:ext cx="201168" cy="201168"/>
          </a:xfrm>
          <a:prstGeom prst="rect">
            <a:avLst/>
          </a:prstGeom>
          <a:noFill/>
        </p:spPr>
        <p:txBody lIns="0" tIns="6350" rIns="0" bIns="0">
          <a:bodyPr wrap="none">
            <a:spAutoFit/>
          </a:bodyPr>
          <a:lstStyle/>
          <a:p>
            <a:pPr algn="ctr"/>
            <a:r>
              <a:rPr sz="9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94779" y="4169664"/>
            <a:ext cx="5094579" cy="347472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</a:rPr>
              <a:t>Reporting &amp; Dashboard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2171" y="4425696"/>
            <a:ext cx="533232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2171" y="4489196"/>
            <a:ext cx="5332323" cy="158242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750">
                <a:solidFill>
                  <a:srgbClr val="E4EEFF"/>
                </a:solidFill>
              </a:rPr>
              <a:t>Panel de control en tiempo real con KPIs, tasa de recuperación, aging de cartera y exportación de informes ejecutivos.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3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08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444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05840" cy="58338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371600"/>
            <a:ext cx="1463040" cy="237744"/>
          </a:xfrm>
          <a:prstGeom prst="rect">
            <a:avLst/>
          </a:prstGeom>
          <a:noFill/>
          <a:ln w="1397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63500" tIns="12700" rIns="63500" bIns="12700">
          <a:bodyPr rtlCol="0" anchor="ctr" wrap="none"/>
          <a:lstStyle/>
          <a:p>
            <a:pPr algn="ctr"/>
            <a:r>
              <a:rPr sz="65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5943600" cy="91440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26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8336"/>
            <a:ext cx="320040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669280" cy="3657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9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91840"/>
            <a:ext cx="2121408" cy="1737360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Gran Vía 28, 4ª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9776" y="3291840"/>
            <a:ext cx="2121408" cy="1737360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79776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98648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98648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98648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Diagonal 211, 3ª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56632" y="3291840"/>
            <a:ext cx="2121408" cy="1737360"/>
          </a:xfrm>
          <a:prstGeom prst="rect">
            <a:avLst/>
          </a:prstGeom>
          <a:solidFill>
            <a:srgbClr val="0E1E4A"/>
          </a:solidFill>
          <a:ln w="635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56632" y="3291840"/>
            <a:ext cx="2121408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4" y="3429000"/>
            <a:ext cx="1883664" cy="256032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75504" y="3721608"/>
            <a:ext cx="1883664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5504" y="3785108"/>
            <a:ext cx="1883664" cy="114300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750">
                <a:solidFill>
                  <a:srgbClr val="E4EEFF"/>
                </a:solidFill>
              </a:rPr>
              <a:t>Larios 12, 2ª planta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200"/>
              </a:spcBef>
            </a:pPr>
            <a:r>
              <a:rPr sz="75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55664"/>
            <a:ext cx="4572000" cy="256032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8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1727" y="6124523"/>
            <a:ext cx="1828800" cy="5871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0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