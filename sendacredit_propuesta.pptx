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0"/>
            <a:ext cx="6766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25135" y="0"/>
            <a:ext cx="6766560" cy="6858000"/>
          </a:xfrm>
          <a:prstGeom prst="rect">
            <a:avLst/>
          </a:prstGeom>
          <a:solidFill>
            <a:srgbClr val="060E24">
              <a:alpha val="7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8703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65760"/>
            <a:ext cx="1024128" cy="1024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00200"/>
            <a:ext cx="566928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084831"/>
            <a:ext cx="283464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31136"/>
            <a:ext cx="5943600" cy="22860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Circuito de gestión</a:t>
            </a:r>
          </a:p>
          <a:p>
            <a:pPr algn="l"/>
            <a:r>
              <a:rPr sz="3600" b="1">
                <a:solidFill>
                  <a:srgbClr val="2FDFE5"/>
                </a:solidFill>
              </a:rPr>
              <a:t>de expedientes</a:t>
            </a:r>
          </a:p>
          <a:p>
            <a:pPr algn="l">
              <a:spcBef>
                <a:spcPts val="400"/>
              </a:spcBef>
            </a:pPr>
            <a:r>
              <a:rPr sz="2200">
                <a:solidFill>
                  <a:srgbClr val="ADD8E6"/>
                </a:solidFill>
              </a:rPr>
              <a:t>ID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177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50" i="1">
                <a:solidFill>
                  <a:srgbClr val="AABBCC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2815" y="6382512"/>
            <a:ext cx="2286000" cy="329184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00">
                <a:solidFill>
                  <a:srgbClr val="667788"/>
                </a:solidFill>
              </a:rPr>
              <a:t>2025 – 2026</a:t>
            </a:r>
          </a:p>
        </p:txBody>
      </p:sp>
    </p:spTree>
  </p:cSld>
  <p:clrMapOvr>
    <a:masterClrMapping/>
  </p:clrMapOvr>
  <p:transition dur="700"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Recepción y </a:t>
            </a:r>
            <a:r>
              <a:rPr sz="2900" b="1">
                <a:solidFill>
                  <a:srgbClr val="2FDFE5"/>
                </a:solidFill>
              </a:rPr>
              <a:t>validación de 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Recepción de fichero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Integración vía SFTP seguro o API REST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Formatos: CSV, Excel, XML, JSON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Hasta 100.000 registros por lote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Acuse con hash de integridad automático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Validación y limpieza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Deduplicación y normalización de datos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Verificación de DNI/NIE y datos civiles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Actualización de contactos (ASNEF, GGSS)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Informe de calidad de cartera en 24 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Segmentación inicial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Clasificación por antigüedad e importe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Scoring de cobrabilidad con modelo ML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Asignación de canal de recobro óptimo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Priorización por rentabilidad esperada</a:t>
            </a:r>
          </a:p>
        </p:txBody>
      </p:sp>
    </p:spTree>
  </p:cSld>
  <p:clrMapOvr>
    <a:masterClrMapping/>
  </p:clrMapOvr>
  <p:transition dur="700" spd="fast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Gestión amistosa </a:t>
            </a:r>
            <a:r>
              <a:rPr sz="2900" b="1">
                <a:solidFill>
                  <a:srgbClr val="2FDFE5"/>
                </a:solidFill>
              </a:rPr>
              <a:t>y negociación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Llamadas outbound con IVR especializado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SMS, email y WhatsApp Business certificado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Cartas físicas certificadas cuando procede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Ventana de contacto 8:00-22:00, L-S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Negociación de acuerdos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Quitas y daciones dentro de límites pactados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Planes de pago de 3 a 48 meses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Firma de acuerdos digitales con validez legal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Grabación de llamadas como respaldo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Seguimiento y cobro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Domiciliación SEPA y pasarela de pago online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Recordatorios automáticos de vencimientos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Renegociación ante impagos parciales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Dashboard de seguimiento en tiempo real</a:t>
            </a:r>
          </a:p>
        </p:txBody>
      </p:sp>
    </p:spTree>
  </p:cSld>
  <p:clrMapOvr>
    <a:masterClrMapping/>
  </p:clrMapOvr>
  <p:transition dur="700"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Vía </a:t>
            </a:r>
            <a:r>
              <a:rPr sz="2900" b="1">
                <a:solidFill>
                  <a:srgbClr val="2FDFE5"/>
                </a:solidFill>
              </a:rPr>
              <a:t>judicial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Análisis de viabilidad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Revisión de prescripción y documentación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Estudio de solvencia y localización de bienes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Valoración coste-beneficio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Decisión de elevación judicial en 48-72 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Proceso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Interposición de monitorio o juicio verbal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Red de letrados en todas las CC.AA.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Coordinación con procuradores y notificaciones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Reporting de estado mensual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Ejecución y cobro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Embargo de cuentas, nóminas e inmuebles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Seguimiento de subastas judiciales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Liquidación y transferencia en 5 días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Acta de cierre con detalle de costas</a:t>
            </a:r>
          </a:p>
        </p:txBody>
      </p:sp>
    </p:spTree>
  </p:cSld>
  <p:clrMapOvr>
    <a:masterClrMapping/>
  </p:clrMapOvr>
  <p:transition dur="700"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8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Reporting </a:t>
            </a:r>
            <a:r>
              <a:rPr sz="2900" b="1">
                <a:solidFill>
                  <a:srgbClr val="2FDFE5"/>
                </a:solidFill>
              </a:rPr>
              <a:t>y liquidación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Informes periódicos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Informe semanal de actividad y contactaciones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Reporte mensual de recuperación y aging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Cuadro de mando ejecutivo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Exportación en PDF, Excel y API 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098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6234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Liquidación y remesas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6234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Liquidación quincenal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Transferencia SEPA en T+2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Conciliación automática con ERP/CRM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Facturación electrónica certificada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56396" y="1901952"/>
            <a:ext cx="233172" cy="233172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6396" y="1901952"/>
            <a:ext cx="233172" cy="233172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1532" y="2226564"/>
            <a:ext cx="3432962" cy="493776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Control de calidad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1532" y="2738628"/>
            <a:ext cx="343296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1532" y="2814828"/>
            <a:ext cx="3432962" cy="323138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Auditoría interna mensual de procesos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Mystery calling y escucha de grabaciones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Comité de mejora continua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CCD8EC"/>
                </a:solidFill>
              </a:rPr>
              <a:t>Certificación ISO 9001 y cumplimiento RGPD</a:t>
            </a:r>
          </a:p>
        </p:txBody>
      </p:sp>
    </p:spTree>
  </p:cSld>
  <p:clrMapOvr>
    <a:masterClrMapping/>
  </p:clrMapOvr>
  <p:transition dur="700"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8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65760"/>
            <a:ext cx="141732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8229600" cy="71323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Servicios </a:t>
            </a:r>
            <a:r>
              <a:rPr sz="29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41148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755648"/>
            <a:ext cx="5588355" cy="2139696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55648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1883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1883664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Gestión de Cobro Amistoso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2139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215896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CCD8EC"/>
                </a:solidFill>
              </a:rPr>
              <a:t>Negociación extrajudicial, planes de pago personalizados y seguimiento continuo hasta la resolución del expediente.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4155" y="1755648"/>
            <a:ext cx="5588355" cy="2139696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4155" y="1755648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29603" y="1883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9603" y="1883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4779" y="1883664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Recobro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2171" y="2139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2171" y="2215896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CCD8EC"/>
                </a:solidFill>
              </a:rPr>
              <a:t>Interposición de demandas, coordinación con letrados y ejecución de sentencias a través de procuradores especializados.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23360"/>
            <a:ext cx="5588355" cy="2139696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023360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8368" y="4151376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151376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151376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Scoring &amp; Segmentación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" y="4407408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4483608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CCD8EC"/>
                </a:solidFill>
              </a:rPr>
              <a:t>Análisis predictivo de cartera para priorizar expedientes con mayor probabilidad de cobro y optimizar recursos.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4155" y="4023360"/>
            <a:ext cx="5588355" cy="2139696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4155" y="4023360"/>
            <a:ext cx="5588355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9603" y="4151376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9603" y="4151376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4779" y="4151376"/>
            <a:ext cx="5076291" cy="36576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Reporting &amp; Dashboard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2171" y="4407408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2171" y="4483608"/>
            <a:ext cx="5332323" cy="1588008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CCD8EC"/>
                </a:solidFill>
              </a:rPr>
              <a:t>Panel de control en tiempo real con KPIs, tasa de recuperación, aging de cartera y exportación de informes ejecutivos.</a:t>
            </a:r>
          </a:p>
        </p:txBody>
      </p:sp>
    </p:spTree>
  </p:cSld>
  <p:clrMapOvr>
    <a:masterClrMapping/>
  </p:clrMapOvr>
  <p:transition dur="700"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9615" y="0"/>
            <a:ext cx="52120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79615" y="0"/>
            <a:ext cx="5212080" cy="6858000"/>
          </a:xfrm>
          <a:prstGeom prst="rect">
            <a:avLst/>
          </a:prstGeom>
          <a:solidFill>
            <a:srgbClr val="060E24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415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960120" cy="960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371600"/>
            <a:ext cx="146304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5943600" cy="9144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26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32004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66928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00" i="1">
                <a:solidFill>
                  <a:srgbClr val="ADD8E6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73552"/>
            <a:ext cx="2103120" cy="1737360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73552"/>
            <a:ext cx="2103120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01568"/>
            <a:ext cx="1865376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694176"/>
            <a:ext cx="186537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57676"/>
            <a:ext cx="1865376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CCD8EC"/>
                </a:solidFill>
              </a:rPr>
              <a:t>Gran Vía 28, 4ª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99BBDD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273552"/>
            <a:ext cx="2103120" cy="1737360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61488" y="3273552"/>
            <a:ext cx="2103120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01568"/>
            <a:ext cx="1865376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3694176"/>
            <a:ext cx="186537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757676"/>
            <a:ext cx="1865376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CCD8EC"/>
                </a:solidFill>
              </a:rPr>
              <a:t>Diagonal 211, 3ª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99BBDD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0056" y="3273552"/>
            <a:ext cx="2103120" cy="1737360"/>
          </a:xfrm>
          <a:prstGeom prst="rect">
            <a:avLst/>
          </a:prstGeom>
          <a:solidFill>
            <a:srgbClr val="0E1E4A"/>
          </a:solidFill>
          <a:ln w="9525">
            <a:solidFill>
              <a:srgbClr val="2A4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3273552"/>
            <a:ext cx="2103120" cy="381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3401568"/>
            <a:ext cx="1865376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38928" y="3694176"/>
            <a:ext cx="186537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3757676"/>
            <a:ext cx="1865376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CCD8EC"/>
                </a:solidFill>
              </a:rPr>
              <a:t>Larios 12, 2ª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99BBDD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8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6008" y="6291072"/>
            <a:ext cx="1874519" cy="420624"/>
          </a:xfrm>
          <a:prstGeom prst="rect">
            <a:avLst/>
          </a:prstGeom>
        </p:spPr>
      </p:pic>
    </p:spTree>
  </p:cSld>
  <p:clrMapOvr>
    <a:masterClrMapping/>
  </p:clrMapOvr>
  <p:transition dur="700"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