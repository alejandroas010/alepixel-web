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65760"/>
            <a:ext cx="1024128" cy="10241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00200"/>
            <a:ext cx="5486400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066543"/>
            <a:ext cx="27432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12848"/>
            <a:ext cx="5852160" cy="22860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700" b="1">
                <a:solidFill>
                  <a:srgbClr val="FFFFFF"/>
                </a:solidFill>
              </a:rPr>
              <a:t>Circuito de gestión</a:t>
            </a:r>
          </a:p>
          <a:p>
            <a:pPr algn="l"/>
            <a:r>
              <a:rPr sz="3700" b="1">
                <a:solidFill>
                  <a:srgbClr val="2FDFE5"/>
                </a:solidFill>
              </a:rPr>
              <a:t>de 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45152"/>
            <a:ext cx="5120640" cy="43891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22815" y="6419088"/>
            <a:ext cx="2286000" cy="292608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0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0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64208"/>
          </a:xfrm>
          <a:prstGeom prst="rect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Recepción y </a:t>
            </a:r>
            <a:r>
              <a:rPr sz="2900" b="1">
                <a:solidFill>
                  <a:srgbClr val="2FDFE5"/>
                </a:solidFill>
              </a:rPr>
              <a:t>validación de cartera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Recepción de fichero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Integración vía SFTP seguro o API REST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Formatos: CSV, Excel, XML, JSON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Hasta 100.000 registros por lote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Acuse con hash de integridad automático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Validación y limpieza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Deduplicación y normalización de datos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Verificación de DNI/NIE y datos civiles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Actualización de contactos (ASNEF, GGSS)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Informe de calidad de cartera en 24 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Segmentación inicial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Clasificación por antigüedad e importe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Scoring de cobrabilidad con modelo ML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Asignación de canal de recobro óptimo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Priorización por rentabilidad esperada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64208"/>
          </a:xfrm>
          <a:prstGeom prst="rect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Gestión amistosa </a:t>
            </a:r>
            <a:r>
              <a:rPr sz="2900" b="1">
                <a:solidFill>
                  <a:srgbClr val="2FDFE5"/>
                </a:solidFill>
              </a:rPr>
              <a:t>y negociación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Llamadas outbound con IVR especializado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SMS, email y WhatsApp Business certificado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Cartas físicas certificadas cuando procede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Ventana de contacto 8:00-22:00, L-S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Negociación de acuerdos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Quitas y daciones dentro de límites pactados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Planes de pago de 3 a 48 meses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Firma de acuerdos digitales con validez legal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Grabación de llamadas como respaldo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Seguimiento y cobro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Domiciliación SEPA y pasarela de pago online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Recordatorios automáticos de vencimientos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Renegociación ante impagos parciales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Dashboard de seguimiento en tiempo real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64208"/>
          </a:xfrm>
          <a:prstGeom prst="rect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Vía </a:t>
            </a:r>
            <a:r>
              <a:rPr sz="2900" b="1">
                <a:solidFill>
                  <a:srgbClr val="2FDFE5"/>
                </a:solidFill>
              </a:rPr>
              <a:t>judicial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Análisis de viabilidad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Revisión de prescripción y documentación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Estudio de solvencia y localización de bienes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Valoración coste-beneficio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Decisión de elevación judicial en 48-72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Proceso judicial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Interposición de monitorio o juicio verbal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Red de letrados en todas las CC.AA.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Coordinación con procuradores y notificaciones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Reporting de estado mensual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Ejecución y cobro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Embargo de cuentas, nóminas e inmuebles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Seguimiento de subastas judiciales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Liquidación y transferencia en 5 días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Acta de cierre con detalle de costas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64208"/>
          </a:xfrm>
          <a:prstGeom prst="rect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Reporting </a:t>
            </a:r>
            <a:r>
              <a:rPr sz="2900" b="1">
                <a:solidFill>
                  <a:srgbClr val="2FDFE5"/>
                </a:solidFill>
              </a:rPr>
              <a:t>y liquidación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Informes periódicos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Informe semanal de actividad y contactaciones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Reporte mensual de recuperación y aging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Cuadro de mando ejecutivo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Exportación en PDF, Excel y API 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Liquidación y remesas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Liquidación quincenal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Transferencia SEPA en T+2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Conciliación automática con ERP/CRM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Facturación electrónica certificada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Control de calidad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Auditoría interna mensual de procesos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Mystery calling y escucha de grabaciones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Comité de mejora continua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Certificación ISO 9001 y cumplimiento RGPD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64208"/>
          </a:xfrm>
          <a:prstGeom prst="rect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22960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Servicios </a:t>
            </a:r>
            <a:r>
              <a:rPr sz="29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55648"/>
            <a:ext cx="5588355" cy="2139696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1901952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901952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1901952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Gestión de Cobro Amistoso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157984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221484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Negociación extrajudicial, planes de pago personalizados y seguimiento continuo hasta la resolución del expediente.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4155" y="1755648"/>
            <a:ext cx="5588355" cy="2139696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4155" y="1755648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9603" y="1901952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9603" y="1901952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4779" y="1901952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Recobro Judicial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2171" y="2157984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2171" y="2221484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Interposición de demandas, coordinación con letrados y ejecución de sentencias a través de procuradores especializados.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23360"/>
            <a:ext cx="5588355" cy="2139696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8" y="4169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169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169664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Scoring &amp; Segmentación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" y="4425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489196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Análisis predictivo de cartera para priorizar expedientes con mayor probabilidad de cobro y optimizar recursos.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4155" y="4023360"/>
            <a:ext cx="5588355" cy="2139696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4155" y="4023360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29603" y="4169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9603" y="4169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4779" y="4169664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Reporting &amp; Dashboard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2171" y="4425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2171" y="4489196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Panel de control en tiempo real con KPIs, tasa de recuperación, aging de cartera y exportación de informes ejecutivos.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80"/>
                            </p:stCondLst>
                            <p:childTnLst>
                              <p:animEffect transition="in" filter="wipe(up)">
                                <p:cBhvr>
                                  <p:cTn id="12" dur="45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960120" cy="960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371600"/>
            <a:ext cx="146304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9928"/>
            <a:ext cx="5943600" cy="9144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26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88336"/>
            <a:ext cx="32004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16352"/>
            <a:ext cx="5669280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91840"/>
            <a:ext cx="2121408" cy="1737360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Gran Vía 28, 4ª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9776" y="3291840"/>
            <a:ext cx="2121408" cy="1737360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79776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98648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98648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98648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Diagonal 211, 3ª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56632" y="3291840"/>
            <a:ext cx="2121408" cy="1737360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56632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5504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75504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5504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Larios 12, 2ª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4572000" cy="256032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8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1727" y="6291072"/>
            <a:ext cx="1828800" cy="4206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