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_cropp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015" y="0"/>
            <a:ext cx="65836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08015" y="0"/>
            <a:ext cx="6583680" cy="6858000"/>
          </a:xfrm>
          <a:prstGeom prst="rect">
            <a:avLst/>
          </a:prstGeom>
          <a:solidFill>
            <a:srgbClr val="060E24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6991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47472"/>
            <a:ext cx="1078992" cy="6258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664208"/>
            <a:ext cx="5303520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000" b="1">
                <a:solidFill>
                  <a:srgbClr val="2FDFE5"/>
                </a:solidFill>
              </a:rPr>
              <a:t>SENDACREDIT GROUP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292608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49424"/>
            <a:ext cx="5669280" cy="25603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</a:rPr>
              <a:t>Circuito de</a:t>
            </a:r>
          </a:p>
          <a:p>
            <a:pPr algn="l"/>
            <a:r>
              <a:rPr sz="4200" b="1">
                <a:solidFill>
                  <a:srgbClr val="FFFFFF"/>
                </a:solidFill>
              </a:rPr>
              <a:t>gestión de</a:t>
            </a:r>
          </a:p>
          <a:p>
            <a:pPr algn="l"/>
            <a:r>
              <a:rPr sz="4200" b="1">
                <a:solidFill>
                  <a:srgbClr val="2FDFE5"/>
                </a:solidFill>
              </a:rPr>
              <a:t>expedientes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846320"/>
            <a:ext cx="5303520" cy="47548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50" i="1">
                <a:solidFill>
                  <a:srgbClr val="C0E8FF"/>
                </a:solidFill>
              </a:rPr>
              <a:t>Propuesta de colaboración · Recuperación de deuda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1375" y="6400800"/>
            <a:ext cx="2377440" cy="310896"/>
          </a:xfrm>
          <a:prstGeom prst="rect">
            <a:avLst/>
          </a:prstGeom>
          <a:noFill/>
        </p:spPr>
        <p:txBody lIns="50800" tIns="25400" rIns="50800" bIns="25400">
          <a:bodyPr wrap="none">
            <a:spAutoFit/>
          </a:bodyPr>
          <a:lstStyle/>
          <a:p>
            <a:pPr algn="r"/>
            <a:r>
              <a:rPr sz="850">
                <a:solidFill>
                  <a:srgbClr val="80A8CC"/>
                </a:solidFill>
              </a:rPr>
              <a:t>2025 – 2026</a:t>
            </a:r>
          </a:p>
        </p:txBody>
      </p:sp>
    </p:spTree>
  </p:cSld>
  <p:clrMapOvr>
    <a:masterClrMapping/>
  </p:clrMapOvr>
  <p:transition dur="550" spd="fast">
    <p:push dir="u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46304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Inicio del </a:t>
            </a:r>
            <a:r>
              <a:rPr sz="4000" b="1">
                <a:solidFill>
                  <a:srgbClr val="2FDFE5"/>
                </a:solidFill>
              </a:rPr>
              <a:t>expediente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00" i="1">
                <a:solidFill>
                  <a:srgbClr val="80A8CC"/>
                </a:solidFill>
              </a:rPr>
              <a:t>Cada caso entra en nuestro circuito con un punto de partida limpio, verificado y correctamente segmentado.</a:t>
            </a:r>
          </a:p>
        </p:txBody>
      </p:sp>
      <p:pic>
        <p:nvPicPr>
          <p:cNvPr id="9" name="Picture 8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554065" y="6510528"/>
            <a:ext cx="77724" cy="77724"/>
          </a:xfrm>
          <a:prstGeom prst="ellipse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80552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05698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0844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5990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4088" y="2450592"/>
            <a:ext cx="329184" cy="329184"/>
          </a:xfrm>
          <a:prstGeom prst="ellipse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66632" y="2513136"/>
            <a:ext cx="204094" cy="204094"/>
          </a:xfrm>
          <a:prstGeom prst="ellipse">
            <a:avLst/>
          </a:prstGeom>
          <a:solidFill>
            <a:srgbClr val="088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2450592"/>
            <a:ext cx="329184" cy="32918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▼</a:t>
            </a:r>
          </a:p>
        </p:txBody>
      </p:sp>
      <p:sp>
        <p:nvSpPr>
          <p:cNvPr id="20" name="Oval 19"/>
          <p:cNvSpPr/>
          <p:nvPr/>
        </p:nvSpPr>
        <p:spPr>
          <a:xfrm>
            <a:off x="1124712" y="2487168"/>
            <a:ext cx="201168" cy="201168"/>
          </a:xfrm>
          <a:prstGeom prst="ellipse">
            <a:avLst/>
          </a:prstGeom>
          <a:solidFill>
            <a:srgbClr val="0A1638"/>
          </a:solidFill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24712" y="2487168"/>
            <a:ext cx="201168" cy="201168"/>
          </a:xfrm>
          <a:prstGeom prst="rect">
            <a:avLst/>
          </a:prstGeom>
          <a:noFill/>
        </p:spPr>
        <p:txBody lIns="0" tIns="12700" rIns="0" bIns="0">
          <a:bodyPr wrap="none">
            <a:spAutoFit/>
          </a:bodyPr>
          <a:lstStyle/>
          <a:p>
            <a:pPr algn="ctr"/>
            <a:r>
              <a:rPr sz="1100" b="1">
                <a:solidFill>
                  <a:srgbClr val="2FDFE5"/>
                </a:solidFill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2450592"/>
            <a:ext cx="4792827" cy="65836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Recepción e integración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" y="2907792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2996692"/>
            <a:ext cx="5250027" cy="2959608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Recepción de operaciones asignadas por nuestro cliente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Validación de datos y documentación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Integración en la plataforma de gestión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83299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84467" y="2450592"/>
            <a:ext cx="329184" cy="329184"/>
          </a:xfrm>
          <a:prstGeom prst="ellipse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47012" y="2513136"/>
            <a:ext cx="204094" cy="204094"/>
          </a:xfrm>
          <a:prstGeom prst="ellipse">
            <a:avLst/>
          </a:prstGeom>
          <a:solidFill>
            <a:srgbClr val="088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84467" y="2450592"/>
            <a:ext cx="329184" cy="32918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◆</a:t>
            </a:r>
          </a:p>
        </p:txBody>
      </p:sp>
      <p:sp>
        <p:nvSpPr>
          <p:cNvPr id="30" name="Oval 29"/>
          <p:cNvSpPr/>
          <p:nvPr/>
        </p:nvSpPr>
        <p:spPr>
          <a:xfrm>
            <a:off x="6905091" y="2487168"/>
            <a:ext cx="201168" cy="201168"/>
          </a:xfrm>
          <a:prstGeom prst="ellipse">
            <a:avLst/>
          </a:prstGeom>
          <a:solidFill>
            <a:srgbClr val="0A1638"/>
          </a:solidFill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05091" y="2487168"/>
            <a:ext cx="201168" cy="201168"/>
          </a:xfrm>
          <a:prstGeom prst="rect">
            <a:avLst/>
          </a:prstGeom>
          <a:noFill/>
        </p:spPr>
        <p:txBody lIns="0" tIns="12700" rIns="0" bIns="0">
          <a:bodyPr wrap="none">
            <a:spAutoFit/>
          </a:bodyPr>
          <a:lstStyle/>
          <a:p>
            <a:pPr algn="ctr"/>
            <a:r>
              <a:rPr sz="1100" b="1">
                <a:solidFill>
                  <a:srgbClr val="2FDFE5"/>
                </a:solidFill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1667" y="2450592"/>
            <a:ext cx="4792827" cy="65836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Clasificación y estrategia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47891" y="2907792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7891" y="2996692"/>
            <a:ext cx="5250027" cy="2959608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Clasificación por antigüedad, importe, tipología y probabilidad de recuperación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Definición de la estrategia de gestión más adecuada para cada expediente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Valoración de la actividad o sector del cliente para personalizar el enfoque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46304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Activación y </a:t>
            </a:r>
            <a:r>
              <a:rPr sz="400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00" i="1">
                <a:solidFill>
                  <a:srgbClr val="80A8CC"/>
                </a:solidFill>
              </a:rPr>
              <a:t>Multiplicamos los canales de contacto y buscamos siempre la vía amistosa para llegar a un acuerdo.</a:t>
            </a:r>
          </a:p>
        </p:txBody>
      </p:sp>
      <p:pic>
        <p:nvPicPr>
          <p:cNvPr id="9" name="Picture 8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55406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805525" y="6510528"/>
            <a:ext cx="77724" cy="77724"/>
          </a:xfrm>
          <a:prstGeom prst="ellipse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05698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0844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5990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4088" y="2450592"/>
            <a:ext cx="329184" cy="329184"/>
          </a:xfrm>
          <a:prstGeom prst="ellipse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66632" y="2513136"/>
            <a:ext cx="204094" cy="204094"/>
          </a:xfrm>
          <a:prstGeom prst="ellipse">
            <a:avLst/>
          </a:prstGeom>
          <a:solidFill>
            <a:srgbClr val="088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2450592"/>
            <a:ext cx="329184" cy="32918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▼</a:t>
            </a:r>
          </a:p>
        </p:txBody>
      </p:sp>
      <p:sp>
        <p:nvSpPr>
          <p:cNvPr id="20" name="Oval 19"/>
          <p:cNvSpPr/>
          <p:nvPr/>
        </p:nvSpPr>
        <p:spPr>
          <a:xfrm>
            <a:off x="1124712" y="2487168"/>
            <a:ext cx="201168" cy="201168"/>
          </a:xfrm>
          <a:prstGeom prst="ellipse">
            <a:avLst/>
          </a:prstGeom>
          <a:solidFill>
            <a:srgbClr val="0A1638"/>
          </a:solidFill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24712" y="2487168"/>
            <a:ext cx="201168" cy="201168"/>
          </a:xfrm>
          <a:prstGeom prst="rect">
            <a:avLst/>
          </a:prstGeom>
          <a:noFill/>
        </p:spPr>
        <p:txBody lIns="0" tIns="12700" rIns="0" bIns="0">
          <a:bodyPr wrap="none">
            <a:spAutoFit/>
          </a:bodyPr>
          <a:lstStyle/>
          <a:p>
            <a:pPr algn="ctr"/>
            <a:r>
              <a:rPr sz="1100" b="1">
                <a:solidFill>
                  <a:srgbClr val="2FDFE5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2450592"/>
            <a:ext cx="4792827" cy="65836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Contactación multicanal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" y="2907792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2996692"/>
            <a:ext cx="5250027" cy="2959608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Primeras comunicaciones: teléfono, SMS, email y mensajería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Verificación de datos de contacto y situación del cliente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Búsqueda activa de datos en no contactados o sin localización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83299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84467" y="2450592"/>
            <a:ext cx="329184" cy="329184"/>
          </a:xfrm>
          <a:prstGeom prst="ellipse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47012" y="2513136"/>
            <a:ext cx="204094" cy="204094"/>
          </a:xfrm>
          <a:prstGeom prst="ellipse">
            <a:avLst/>
          </a:prstGeom>
          <a:solidFill>
            <a:srgbClr val="088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84467" y="2450592"/>
            <a:ext cx="329184" cy="32918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◆</a:t>
            </a:r>
          </a:p>
        </p:txBody>
      </p:sp>
      <p:sp>
        <p:nvSpPr>
          <p:cNvPr id="30" name="Oval 29"/>
          <p:cNvSpPr/>
          <p:nvPr/>
        </p:nvSpPr>
        <p:spPr>
          <a:xfrm>
            <a:off x="6905091" y="2487168"/>
            <a:ext cx="201168" cy="201168"/>
          </a:xfrm>
          <a:prstGeom prst="ellipse">
            <a:avLst/>
          </a:prstGeom>
          <a:solidFill>
            <a:srgbClr val="0A1638"/>
          </a:solidFill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05091" y="2487168"/>
            <a:ext cx="201168" cy="201168"/>
          </a:xfrm>
          <a:prstGeom prst="rect">
            <a:avLst/>
          </a:prstGeom>
          <a:noFill/>
        </p:spPr>
        <p:txBody lIns="0" tIns="12700" rIns="0" bIns="0">
          <a:bodyPr wrap="none">
            <a:spAutoFit/>
          </a:bodyPr>
          <a:lstStyle/>
          <a:p>
            <a:pPr algn="ctr"/>
            <a:r>
              <a:rPr sz="1100" b="1">
                <a:solidFill>
                  <a:srgbClr val="2FDFE5"/>
                </a:solidFill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1667" y="2450592"/>
            <a:ext cx="4792827" cy="65836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Acuerdos personalizados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47891" y="2907792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7891" y="2996692"/>
            <a:ext cx="5250027" cy="2959608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Análisis de la capacidad de pago del deudor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Propuesta de acuerdos personalizados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Formalización y seguimiento de planes de pago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46304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FASE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Gestión </a:t>
            </a:r>
            <a:r>
              <a:rPr sz="4000" b="1">
                <a:solidFill>
                  <a:srgbClr val="2FDFE5"/>
                </a:solidFill>
              </a:rPr>
              <a:t>continuada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00" i="1">
                <a:solidFill>
                  <a:srgbClr val="80A8CC"/>
                </a:solidFill>
              </a:rPr>
              <a:t>El seguimiento constante y la transparencia en el reporting mantienen cada expediente bajo control.</a:t>
            </a:r>
          </a:p>
        </p:txBody>
      </p:sp>
      <p:pic>
        <p:nvPicPr>
          <p:cNvPr id="9" name="Picture 8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55406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80552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056985" y="6510528"/>
            <a:ext cx="77724" cy="77724"/>
          </a:xfrm>
          <a:prstGeom prst="ellipse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0844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5990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4088" y="2450592"/>
            <a:ext cx="329184" cy="329184"/>
          </a:xfrm>
          <a:prstGeom prst="ellipse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66632" y="2513136"/>
            <a:ext cx="204094" cy="204094"/>
          </a:xfrm>
          <a:prstGeom prst="ellipse">
            <a:avLst/>
          </a:prstGeom>
          <a:solidFill>
            <a:srgbClr val="088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2450592"/>
            <a:ext cx="329184" cy="32918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▼</a:t>
            </a:r>
          </a:p>
        </p:txBody>
      </p:sp>
      <p:sp>
        <p:nvSpPr>
          <p:cNvPr id="20" name="Oval 19"/>
          <p:cNvSpPr/>
          <p:nvPr/>
        </p:nvSpPr>
        <p:spPr>
          <a:xfrm>
            <a:off x="1124712" y="2487168"/>
            <a:ext cx="201168" cy="201168"/>
          </a:xfrm>
          <a:prstGeom prst="ellipse">
            <a:avLst/>
          </a:prstGeom>
          <a:solidFill>
            <a:srgbClr val="0A1638"/>
          </a:solidFill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24712" y="2487168"/>
            <a:ext cx="201168" cy="201168"/>
          </a:xfrm>
          <a:prstGeom prst="rect">
            <a:avLst/>
          </a:prstGeom>
          <a:noFill/>
        </p:spPr>
        <p:txBody lIns="0" tIns="12700" rIns="0" bIns="0">
          <a:bodyPr wrap="none">
            <a:spAutoFit/>
          </a:bodyPr>
          <a:lstStyle/>
          <a:p>
            <a:pPr algn="ctr"/>
            <a:r>
              <a:rPr sz="1100" b="1">
                <a:solidFill>
                  <a:srgbClr val="2FDFE5"/>
                </a:solidFill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2450592"/>
            <a:ext cx="4792827" cy="65836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Monitorización activa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" y="2907792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2996692"/>
            <a:ext cx="5250027" cy="2959608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Monitorización activa de los acuerdos alcanzados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Recordatorios preventivos de vencimiento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Reactivación inmediata ante incidencias o incumplimientos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83299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84467" y="2450592"/>
            <a:ext cx="329184" cy="329184"/>
          </a:xfrm>
          <a:prstGeom prst="ellipse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47012" y="2513136"/>
            <a:ext cx="204094" cy="204094"/>
          </a:xfrm>
          <a:prstGeom prst="ellipse">
            <a:avLst/>
          </a:prstGeom>
          <a:solidFill>
            <a:srgbClr val="088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84467" y="2450592"/>
            <a:ext cx="329184" cy="32918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◆</a:t>
            </a:r>
          </a:p>
        </p:txBody>
      </p:sp>
      <p:sp>
        <p:nvSpPr>
          <p:cNvPr id="30" name="Oval 29"/>
          <p:cNvSpPr/>
          <p:nvPr/>
        </p:nvSpPr>
        <p:spPr>
          <a:xfrm>
            <a:off x="6905091" y="2487168"/>
            <a:ext cx="201168" cy="201168"/>
          </a:xfrm>
          <a:prstGeom prst="ellipse">
            <a:avLst/>
          </a:prstGeom>
          <a:solidFill>
            <a:srgbClr val="0A1638"/>
          </a:solidFill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05091" y="2487168"/>
            <a:ext cx="201168" cy="201168"/>
          </a:xfrm>
          <a:prstGeom prst="rect">
            <a:avLst/>
          </a:prstGeom>
          <a:noFill/>
        </p:spPr>
        <p:txBody lIns="0" tIns="12700" rIns="0" bIns="0">
          <a:bodyPr wrap="none">
            <a:spAutoFit/>
          </a:bodyPr>
          <a:lstStyle/>
          <a:p>
            <a:pPr algn="ctr"/>
            <a:r>
              <a:rPr sz="1100" b="1">
                <a:solidFill>
                  <a:srgbClr val="2FDFE5"/>
                </a:solidFill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1667" y="2450592"/>
            <a:ext cx="4792827" cy="65836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Reporting y resultados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47891" y="2907792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7891" y="2996692"/>
            <a:ext cx="5250027" cy="2959608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Actualización permanente del estado de cada expediente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Informes periódicos de actividad y resultados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KPIs de recuperación y productividad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46304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FASE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Cierre y </a:t>
            </a:r>
            <a:r>
              <a:rPr sz="4000" b="1">
                <a:solidFill>
                  <a:srgbClr val="2FDFE5"/>
                </a:solidFill>
              </a:rPr>
              <a:t>condiciones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00" i="1">
                <a:solidFill>
                  <a:srgbClr val="80A8CC"/>
                </a:solidFill>
              </a:rPr>
              <a:t>Solo facturamos cuando recuperamos: nuestros incentivos están alineados con los de nuestro cliente.</a:t>
            </a:r>
          </a:p>
        </p:txBody>
      </p:sp>
      <p:pic>
        <p:nvPicPr>
          <p:cNvPr id="9" name="Picture 8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55406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80552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05698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08445" y="6510528"/>
            <a:ext cx="77724" cy="77724"/>
          </a:xfrm>
          <a:prstGeom prst="ellipse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5990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4088" y="2450592"/>
            <a:ext cx="329184" cy="329184"/>
          </a:xfrm>
          <a:prstGeom prst="ellipse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66632" y="2513136"/>
            <a:ext cx="204094" cy="204094"/>
          </a:xfrm>
          <a:prstGeom prst="ellipse">
            <a:avLst/>
          </a:prstGeom>
          <a:solidFill>
            <a:srgbClr val="088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2450592"/>
            <a:ext cx="329184" cy="32918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▼</a:t>
            </a:r>
          </a:p>
        </p:txBody>
      </p:sp>
      <p:sp>
        <p:nvSpPr>
          <p:cNvPr id="20" name="Oval 19"/>
          <p:cNvSpPr/>
          <p:nvPr/>
        </p:nvSpPr>
        <p:spPr>
          <a:xfrm>
            <a:off x="1124712" y="2487168"/>
            <a:ext cx="201168" cy="201168"/>
          </a:xfrm>
          <a:prstGeom prst="ellipse">
            <a:avLst/>
          </a:prstGeom>
          <a:solidFill>
            <a:srgbClr val="0A1638"/>
          </a:solidFill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24712" y="2487168"/>
            <a:ext cx="201168" cy="201168"/>
          </a:xfrm>
          <a:prstGeom prst="rect">
            <a:avLst/>
          </a:prstGeom>
          <a:noFill/>
        </p:spPr>
        <p:txBody lIns="0" tIns="12700" rIns="0" bIns="0">
          <a:bodyPr wrap="none">
            <a:spAutoFit/>
          </a:bodyPr>
          <a:lstStyle/>
          <a:p>
            <a:pPr algn="ctr"/>
            <a:r>
              <a:rPr sz="1100" b="1">
                <a:solidFill>
                  <a:srgbClr val="2FDFE5"/>
                </a:solidFill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2450592"/>
            <a:ext cx="4792827" cy="65836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Cierre del expediente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" y="2907792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2996692"/>
            <a:ext cx="5250027" cy="2959608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Expedientes recuperados o finalizados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Entrega de resultados y documentación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Análisis de rendimiento y propuestas de mejora continua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83299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84467" y="2450592"/>
            <a:ext cx="329184" cy="329184"/>
          </a:xfrm>
          <a:prstGeom prst="ellipse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47012" y="2513136"/>
            <a:ext cx="204094" cy="204094"/>
          </a:xfrm>
          <a:prstGeom prst="ellipse">
            <a:avLst/>
          </a:prstGeom>
          <a:solidFill>
            <a:srgbClr val="088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84467" y="2450592"/>
            <a:ext cx="329184" cy="32918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◆</a:t>
            </a:r>
          </a:p>
        </p:txBody>
      </p:sp>
      <p:sp>
        <p:nvSpPr>
          <p:cNvPr id="30" name="Oval 29"/>
          <p:cNvSpPr/>
          <p:nvPr/>
        </p:nvSpPr>
        <p:spPr>
          <a:xfrm>
            <a:off x="6905091" y="2487168"/>
            <a:ext cx="201168" cy="201168"/>
          </a:xfrm>
          <a:prstGeom prst="ellipse">
            <a:avLst/>
          </a:prstGeom>
          <a:solidFill>
            <a:srgbClr val="0A1638"/>
          </a:solidFill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05091" y="2487168"/>
            <a:ext cx="201168" cy="201168"/>
          </a:xfrm>
          <a:prstGeom prst="rect">
            <a:avLst/>
          </a:prstGeom>
          <a:noFill/>
        </p:spPr>
        <p:txBody lIns="0" tIns="12700" rIns="0" bIns="0">
          <a:bodyPr wrap="none">
            <a:spAutoFit/>
          </a:bodyPr>
          <a:lstStyle/>
          <a:p>
            <a:pPr algn="ctr"/>
            <a:r>
              <a:rPr sz="1100" b="1">
                <a:solidFill>
                  <a:srgbClr val="2FDFE5"/>
                </a:solidFill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1667" y="2450592"/>
            <a:ext cx="4792827" cy="65836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Honorarios y condiciones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47891" y="2907792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7891" y="2996692"/>
            <a:ext cx="5250027" cy="2959608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Servicio de recobro amistoso a éxito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Retribución escalada según tipología de deuda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Sin costes fijos: solo pagamos si recuperamos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46304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FASE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Servicios </a:t>
            </a:r>
            <a:r>
              <a:rPr sz="4000" b="1">
                <a:solidFill>
                  <a:srgbClr val="2FDFE5"/>
                </a:solidFill>
              </a:rPr>
              <a:t>adicionales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555406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80552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05698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0844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59905" y="6510528"/>
            <a:ext cx="77724" cy="77724"/>
          </a:xfrm>
          <a:prstGeom prst="ellipse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920240"/>
            <a:ext cx="5579211" cy="1993392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5800" y="2084832"/>
            <a:ext cx="292608" cy="292608"/>
          </a:xfrm>
          <a:prstGeom prst="ellipse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41395" y="2140427"/>
            <a:ext cx="181416" cy="181416"/>
          </a:xfrm>
          <a:prstGeom prst="ellipse">
            <a:avLst/>
          </a:prstGeom>
          <a:solidFill>
            <a:srgbClr val="088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084832"/>
            <a:ext cx="292608" cy="29260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" y="2084832"/>
            <a:ext cx="4884267" cy="56692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Vía monitoria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" y="2487168"/>
            <a:ext cx="528660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2563368"/>
            <a:ext cx="5286603" cy="127152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1150">
                <a:solidFill>
                  <a:srgbClr val="D8EAFF"/>
                </a:solidFill>
              </a:rPr>
              <a:t>Tramitación de procedimientos monitorios para reclamar la deuda por vía judicial cuando la vía amistosa no es suficiente.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83299" y="1920240"/>
            <a:ext cx="5579211" cy="1993392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83299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6179" y="2084832"/>
            <a:ext cx="292608" cy="292608"/>
          </a:xfrm>
          <a:prstGeom prst="ellipse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21775" y="2140427"/>
            <a:ext cx="181416" cy="181416"/>
          </a:xfrm>
          <a:prstGeom prst="ellipse">
            <a:avLst/>
          </a:prstGeom>
          <a:solidFill>
            <a:srgbClr val="088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6179" y="2084832"/>
            <a:ext cx="292608" cy="29260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68515" y="2084832"/>
            <a:ext cx="4884267" cy="56692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Acción disuasoria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29603" y="2487168"/>
            <a:ext cx="528660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9603" y="2563368"/>
            <a:ext cx="5286603" cy="127152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1150">
                <a:solidFill>
                  <a:srgbClr val="D8EAFF"/>
                </a:solidFill>
              </a:rPr>
              <a:t>Identificación visible de la gestión por parte de Sendacredit como elemento disuasorio frente al impago.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059936"/>
            <a:ext cx="5579211" cy="1993392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5800" y="4224528"/>
            <a:ext cx="292608" cy="292608"/>
          </a:xfrm>
          <a:prstGeom prst="ellipse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41395" y="4280123"/>
            <a:ext cx="181416" cy="181416"/>
          </a:xfrm>
          <a:prstGeom prst="ellipse">
            <a:avLst/>
          </a:prstGeom>
          <a:solidFill>
            <a:srgbClr val="088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224528"/>
            <a:ext cx="292608" cy="29260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" y="4224528"/>
            <a:ext cx="4884267" cy="56692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Análisis de solvencia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9224" y="4626864"/>
            <a:ext cx="528660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" y="4703064"/>
            <a:ext cx="5286603" cy="127152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1150">
                <a:solidFill>
                  <a:srgbClr val="D8EAFF"/>
                </a:solidFill>
              </a:rPr>
              <a:t>Estudio de la capacidad económica real del deudor para orientar mejor la estrategia de recobro.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83299" y="4059936"/>
            <a:ext cx="5579211" cy="1993392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83299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466179" y="4224528"/>
            <a:ext cx="292608" cy="292608"/>
          </a:xfrm>
          <a:prstGeom prst="ellipse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521775" y="4280123"/>
            <a:ext cx="181416" cy="181416"/>
          </a:xfrm>
          <a:prstGeom prst="ellipse">
            <a:avLst/>
          </a:prstGeom>
          <a:solidFill>
            <a:srgbClr val="088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66179" y="4224528"/>
            <a:ext cx="292608" cy="29260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68515" y="4224528"/>
            <a:ext cx="4884267" cy="56692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Ficheros de morosidad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29603" y="4626864"/>
            <a:ext cx="528660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29603" y="4703064"/>
            <a:ext cx="5286603" cy="127152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1150">
                <a:solidFill>
                  <a:srgbClr val="D8EAFF"/>
                </a:solidFill>
              </a:rPr>
              <a:t>Registro del deudor en ficheros de morosidad como medida adicional de presión y prevención.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80"/>
                            </p:stCondLst>
                            <p:childTnLst>
                              <p:animEffect transition="in" filter="wipe(up)">
                                <p:cBhvr>
                                  <p:cTn id="12" dur="450" fill="hold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_cropp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071055" y="0"/>
            <a:ext cx="5120640" cy="6858000"/>
          </a:xfrm>
          <a:prstGeom prst="rect">
            <a:avLst/>
          </a:prstGeom>
          <a:solidFill>
            <a:srgbClr val="060E24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3295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10896"/>
            <a:ext cx="1024128" cy="59399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1417320"/>
            <a:ext cx="155448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01368"/>
            <a:ext cx="5852160" cy="105156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Hablemos de tu </a:t>
            </a:r>
          </a:p>
          <a:p>
            <a:pPr algn="l"/>
            <a:r>
              <a:rPr sz="3000" b="1">
                <a:solidFill>
                  <a:srgbClr val="2FDFE5"/>
                </a:solidFill>
              </a:rPr>
              <a:t>cartera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34640"/>
            <a:ext cx="34747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971800"/>
            <a:ext cx="5669280" cy="402336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00" i="1">
                <a:solidFill>
                  <a:srgbClr val="C0E8FF"/>
                </a:solidFill>
              </a:rPr>
              <a:t>Nuestros equipos están disponibles para comenzar de inmediato.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401568"/>
            <a:ext cx="2157984" cy="192024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401568"/>
            <a:ext cx="2157984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3557016"/>
            <a:ext cx="1901952" cy="310896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300" b="1">
                <a:solidFill>
                  <a:srgbClr val="2FDFE5"/>
                </a:solidFill>
              </a:rPr>
              <a:t>MADRID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" y="3904488"/>
            <a:ext cx="190195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980688"/>
            <a:ext cx="1901952" cy="123444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00">
                <a:solidFill>
                  <a:srgbClr val="D8EAFF"/>
                </a:solidFill>
              </a:rPr>
              <a:t>Gran Vía 28, 4ª planta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2FDFE5"/>
                </a:solidFill>
              </a:rPr>
              <a:t>+34 910 000 001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80A8CC"/>
                </a:solidFill>
              </a:rPr>
              <a:t>madrid@sendacredit.com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25496" y="3401568"/>
            <a:ext cx="2157984" cy="192024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5496" y="3401568"/>
            <a:ext cx="2157984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53512" y="3557016"/>
            <a:ext cx="1901952" cy="310896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300" b="1">
                <a:solidFill>
                  <a:srgbClr val="2FDFE5"/>
                </a:solidFill>
              </a:rPr>
              <a:t>BARCELONA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53512" y="3904488"/>
            <a:ext cx="190195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53512" y="3980688"/>
            <a:ext cx="1901952" cy="123444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00">
                <a:solidFill>
                  <a:srgbClr val="D8EAFF"/>
                </a:solidFill>
              </a:rPr>
              <a:t>Diagonal 211, 3ª planta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2FDFE5"/>
                </a:solidFill>
              </a:rPr>
              <a:t>+34 932 000 002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80A8CC"/>
                </a:solidFill>
              </a:rPr>
              <a:t>barcelona@sendacredit.com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48072" y="3401568"/>
            <a:ext cx="2157984" cy="192024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48072" y="3401568"/>
            <a:ext cx="2157984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76088" y="3557016"/>
            <a:ext cx="1901952" cy="310896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300" b="1">
                <a:solidFill>
                  <a:srgbClr val="2FDFE5"/>
                </a:solidFill>
              </a:rPr>
              <a:t>MÁLAGA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76088" y="3904488"/>
            <a:ext cx="190195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76088" y="3980688"/>
            <a:ext cx="1901952" cy="123444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00">
                <a:solidFill>
                  <a:srgbClr val="D8EAFF"/>
                </a:solidFill>
              </a:rPr>
              <a:t>Larios 12, 2ª planta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2FDFE5"/>
                </a:solidFill>
              </a:rPr>
              <a:t>+34 952 000 003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80A8CC"/>
                </a:solidFill>
              </a:rPr>
              <a:t>malaga@sendacredit.com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4572000" cy="274320"/>
          </a:xfrm>
          <a:prstGeom prst="rect">
            <a:avLst/>
          </a:prstGeom>
          <a:noFill/>
        </p:spPr>
        <p:txBody lIns="0" tIns="25400" rIns="0" bIns="25400">
          <a:bodyPr wrap="none">
            <a:spAutoFit/>
          </a:bodyPr>
          <a:lstStyle/>
          <a:p>
            <a:pPr algn="l"/>
            <a:r>
              <a:rPr sz="950">
                <a:solidFill>
                  <a:srgbClr val="2FDFE5"/>
                </a:solidFill>
              </a:rPr>
              <a:t>www.sendacredit.com</a:t>
            </a:r>
          </a:p>
        </p:txBody>
      </p:sp>
      <p:pic>
        <p:nvPicPr>
          <p:cNvPr id="29" name="Picture 28" descr="logo_horiz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