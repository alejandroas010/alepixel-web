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building_croppe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8015" y="0"/>
            <a:ext cx="658368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608015" y="0"/>
            <a:ext cx="6583680" cy="6858000"/>
          </a:xfrm>
          <a:prstGeom prst="rect">
            <a:avLst/>
          </a:prstGeom>
          <a:solidFill>
            <a:srgbClr val="060E24">
              <a:alpha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569915" y="0"/>
            <a:ext cx="38100" cy="68580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_rou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47472"/>
            <a:ext cx="1078992" cy="62581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664208"/>
            <a:ext cx="5303520" cy="38404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000" b="1">
                <a:solidFill>
                  <a:srgbClr val="2FDFE5"/>
                </a:solidFill>
              </a:rPr>
              <a:t>SENDACREDIT GROUP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292608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249424"/>
            <a:ext cx="5669280" cy="25603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</a:rPr>
              <a:t>Circuito de</a:t>
            </a:r>
          </a:p>
          <a:p>
            <a:pPr algn="l"/>
            <a:r>
              <a:rPr sz="4200" b="1">
                <a:solidFill>
                  <a:srgbClr val="FFFFFF"/>
                </a:solidFill>
              </a:rPr>
              <a:t>gestión de</a:t>
            </a:r>
          </a:p>
          <a:p>
            <a:pPr algn="l"/>
            <a:r>
              <a:rPr sz="4200" b="1">
                <a:solidFill>
                  <a:srgbClr val="2FDFE5"/>
                </a:solidFill>
              </a:rPr>
              <a:t>expedientes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846320"/>
            <a:ext cx="5303520" cy="47548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150" i="1">
                <a:solidFill>
                  <a:srgbClr val="C0E8FF"/>
                </a:solidFill>
              </a:rPr>
              <a:t>Propuesta de colaboración · Recuperación de deuda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31375" y="6400800"/>
            <a:ext cx="2377440" cy="310896"/>
          </a:xfrm>
          <a:prstGeom prst="rect">
            <a:avLst/>
          </a:prstGeom>
          <a:noFill/>
        </p:spPr>
        <p:txBody lIns="50800" tIns="25400" rIns="50800" bIns="25400">
          <a:bodyPr wrap="none">
            <a:spAutoFit/>
          </a:bodyPr>
          <a:lstStyle/>
          <a:p>
            <a:pPr algn="r"/>
            <a:r>
              <a:rPr sz="850">
                <a:solidFill>
                  <a:srgbClr val="80A8CC"/>
                </a:solidFill>
              </a:rPr>
              <a:t>2025 – 2026</a:t>
            </a:r>
          </a:p>
        </p:txBody>
      </p:sp>
    </p:spTree>
  </p:cSld>
  <p:clrMapOvr>
    <a:masterClrMapping/>
  </p:clrMapOvr>
  <p:transition dur="550" spd="fast">
    <p:push dir="u"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65760"/>
            <a:ext cx="1463040" cy="274320"/>
          </a:xfrm>
          <a:prstGeom prst="rect">
            <a:avLst/>
          </a:prstGeom>
          <a:noFill/>
          <a:ln w="1524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76200" tIns="12700" rIns="76200" bIns="12700">
          <a:bodyPr rtlCol="0" anchor="ctr" wrap="none"/>
          <a:lstStyle/>
          <a:p>
            <a:pPr algn="ctr"/>
            <a:r>
              <a:rPr sz="800" b="1">
                <a:solidFill>
                  <a:srgbClr val="2FDFE5"/>
                </a:solidFill>
              </a:rPr>
              <a:t>FASE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31520"/>
            <a:ext cx="8961120" cy="9601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Inicio del </a:t>
            </a:r>
            <a:r>
              <a:rPr sz="4000" b="1">
                <a:solidFill>
                  <a:srgbClr val="2FDFE5"/>
                </a:solidFill>
              </a:rPr>
              <a:t>expediente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438912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810512"/>
            <a:ext cx="9265615" cy="38404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300" i="1">
                <a:solidFill>
                  <a:srgbClr val="80A8CC"/>
                </a:solidFill>
              </a:rPr>
              <a:t>Cada caso entra en nuestro circuito con un punto de partida limpio, verificado y correctamente segmentado.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267712"/>
            <a:ext cx="5579211" cy="3785616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04088" y="2468880"/>
            <a:ext cx="347472" cy="347472"/>
          </a:xfrm>
          <a:prstGeom prst="ellipse">
            <a:avLst/>
          </a:prstGeom>
          <a:solidFill>
            <a:srgbClr val="0A1638"/>
          </a:solidFill>
          <a:ln w="1905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0" tIns="0" rIns="0" bIns="0">
          <a:bodyPr rtlCol="0" anchor="ctr" wrap="none"/>
          <a:lstStyle/>
          <a:p>
            <a:pPr algn="ctr"/>
            <a:r>
              <a:rPr sz="1600" b="1">
                <a:solidFill>
                  <a:srgbClr val="2FDFE5"/>
                </a:solidFill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9576" y="2468880"/>
            <a:ext cx="4683099" cy="658368"/>
          </a:xfrm>
          <a:prstGeom prst="rect">
            <a:avLst/>
          </a:prstGeom>
          <a:noFill/>
        </p:spPr>
        <p:txBody lIns="38100" tIns="25400" rIns="38100" bIns="25400"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</a:rPr>
              <a:t>Recepción e integración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512" y="2944368"/>
            <a:ext cx="5250027" cy="1524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3045968"/>
            <a:ext cx="5250027" cy="2923032"/>
          </a:xfrm>
          <a:prstGeom prst="rect">
            <a:avLst/>
          </a:prstGeom>
          <a:noFill/>
        </p:spPr>
        <p:txBody lIns="50800" tIns="38100" rIns="50800" bIns="38100">
          <a:bodyPr wrap="square">
            <a:spAutoFit/>
          </a:bodyPr>
          <a:lstStyle/>
          <a:p>
            <a:pPr algn="l">
              <a:spcBef>
                <a:spcPts val="500"/>
              </a:spcBef>
            </a:pPr>
            <a:r>
              <a:rPr sz="1300">
                <a:solidFill>
                  <a:srgbClr val="2FDFE5"/>
                </a:solidFill>
              </a:rPr>
              <a:t>▸  </a:t>
            </a:r>
            <a:r>
              <a:rPr sz="1400">
                <a:solidFill>
                  <a:srgbClr val="D8EAFF"/>
                </a:solidFill>
              </a:rPr>
              <a:t>Recepción de operaciones asignadas por nuestro cliente</a:t>
            </a:r>
          </a:p>
          <a:p>
            <a:pPr algn="l">
              <a:spcBef>
                <a:spcPts val="500"/>
              </a:spcBef>
            </a:pPr>
            <a:r>
              <a:rPr sz="1300">
                <a:solidFill>
                  <a:srgbClr val="2FDFE5"/>
                </a:solidFill>
              </a:rPr>
              <a:t>▸  </a:t>
            </a:r>
            <a:r>
              <a:rPr sz="1400">
                <a:solidFill>
                  <a:srgbClr val="D8EAFF"/>
                </a:solidFill>
              </a:rPr>
              <a:t>Validación de datos y documentación</a:t>
            </a:r>
          </a:p>
          <a:p>
            <a:pPr algn="l">
              <a:spcBef>
                <a:spcPts val="500"/>
              </a:spcBef>
            </a:pPr>
            <a:r>
              <a:rPr sz="1300">
                <a:solidFill>
                  <a:srgbClr val="2FDFE5"/>
                </a:solidFill>
              </a:rPr>
              <a:t>▸  </a:t>
            </a:r>
            <a:r>
              <a:rPr sz="1400">
                <a:solidFill>
                  <a:srgbClr val="D8EAFF"/>
                </a:solidFill>
              </a:rPr>
              <a:t>Integración en la plataforma de gestión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83299" y="2267712"/>
            <a:ext cx="5579211" cy="3785616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83299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84467" y="2468880"/>
            <a:ext cx="347472" cy="347472"/>
          </a:xfrm>
          <a:prstGeom prst="ellipse">
            <a:avLst/>
          </a:prstGeom>
          <a:solidFill>
            <a:srgbClr val="0A1638"/>
          </a:solidFill>
          <a:ln w="1905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0" tIns="0" rIns="0" bIns="0">
          <a:bodyPr rtlCol="0" anchor="ctr" wrap="none"/>
          <a:lstStyle/>
          <a:p>
            <a:pPr algn="ctr"/>
            <a:r>
              <a:rPr sz="1600" b="1">
                <a:solidFill>
                  <a:srgbClr val="2FDFE5"/>
                </a:solidFill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59955" y="2468880"/>
            <a:ext cx="4683099" cy="658368"/>
          </a:xfrm>
          <a:prstGeom prst="rect">
            <a:avLst/>
          </a:prstGeom>
          <a:noFill/>
        </p:spPr>
        <p:txBody lIns="38100" tIns="25400" rIns="38100" bIns="25400"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</a:rPr>
              <a:t>Clasificación y estrategia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47891" y="2944368"/>
            <a:ext cx="5250027" cy="1524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7891" y="3045968"/>
            <a:ext cx="5250027" cy="2923032"/>
          </a:xfrm>
          <a:prstGeom prst="rect">
            <a:avLst/>
          </a:prstGeom>
          <a:noFill/>
        </p:spPr>
        <p:txBody lIns="50800" tIns="38100" rIns="50800" bIns="38100">
          <a:bodyPr wrap="square">
            <a:spAutoFit/>
          </a:bodyPr>
          <a:lstStyle/>
          <a:p>
            <a:pPr algn="l">
              <a:spcBef>
                <a:spcPts val="500"/>
              </a:spcBef>
            </a:pPr>
            <a:r>
              <a:rPr sz="1300">
                <a:solidFill>
                  <a:srgbClr val="2FDFE5"/>
                </a:solidFill>
              </a:rPr>
              <a:t>▸  </a:t>
            </a:r>
            <a:r>
              <a:rPr sz="1400">
                <a:solidFill>
                  <a:srgbClr val="D8EAFF"/>
                </a:solidFill>
              </a:rPr>
              <a:t>Clasificación por antigüedad, importe, tipología y probabilidad de recuperación</a:t>
            </a:r>
          </a:p>
          <a:p>
            <a:pPr algn="l">
              <a:spcBef>
                <a:spcPts val="500"/>
              </a:spcBef>
            </a:pPr>
            <a:r>
              <a:rPr sz="1300">
                <a:solidFill>
                  <a:srgbClr val="2FDFE5"/>
                </a:solidFill>
              </a:rPr>
              <a:t>▸  </a:t>
            </a:r>
            <a:r>
              <a:rPr sz="1400">
                <a:solidFill>
                  <a:srgbClr val="D8EAFF"/>
                </a:solidFill>
              </a:rPr>
              <a:t>Definición de la estrategia de gestión más adecuada para cada expediente</a:t>
            </a:r>
          </a:p>
          <a:p>
            <a:pPr algn="l">
              <a:spcBef>
                <a:spcPts val="500"/>
              </a:spcBef>
            </a:pPr>
            <a:r>
              <a:rPr sz="1300">
                <a:solidFill>
                  <a:srgbClr val="2FDFE5"/>
                </a:solidFill>
              </a:rPr>
              <a:t>▸  </a:t>
            </a:r>
            <a:r>
              <a:rPr sz="1400">
                <a:solidFill>
                  <a:srgbClr val="D8EAFF"/>
                </a:solidFill>
              </a:rPr>
              <a:t>Valoración de la actividad o sector del cliente para personalizar el enfoque</a:t>
            </a:r>
          </a:p>
        </p:txBody>
      </p:sp>
      <p:pic>
        <p:nvPicPr>
          <p:cNvPr id="21" name="Picture 20" descr="logo_hori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24567" y="6062197"/>
            <a:ext cx="1965960" cy="63121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45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8" dur="45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65760"/>
            <a:ext cx="1463040" cy="274320"/>
          </a:xfrm>
          <a:prstGeom prst="rect">
            <a:avLst/>
          </a:prstGeom>
          <a:noFill/>
          <a:ln w="1524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76200" tIns="12700" rIns="76200" bIns="12700">
          <a:bodyPr rtlCol="0" anchor="ctr" wrap="none"/>
          <a:lstStyle/>
          <a:p>
            <a:pPr algn="ctr"/>
            <a:r>
              <a:rPr sz="800" b="1">
                <a:solidFill>
                  <a:srgbClr val="2FDFE5"/>
                </a:solidFill>
              </a:rPr>
              <a:t>FASE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31520"/>
            <a:ext cx="8961120" cy="9601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Activación y </a:t>
            </a:r>
            <a:r>
              <a:rPr sz="4000" b="1">
                <a:solidFill>
                  <a:srgbClr val="2FDFE5"/>
                </a:solidFill>
              </a:rPr>
              <a:t>contacto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438912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810512"/>
            <a:ext cx="9265615" cy="38404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300" i="1">
                <a:solidFill>
                  <a:srgbClr val="80A8CC"/>
                </a:solidFill>
              </a:rPr>
              <a:t>Multiplicamos los canales de contacto y buscamos siempre la vía amistosa para llegar a un acuerdo.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267712"/>
            <a:ext cx="5579211" cy="3785616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04088" y="2468880"/>
            <a:ext cx="347472" cy="347472"/>
          </a:xfrm>
          <a:prstGeom prst="ellipse">
            <a:avLst/>
          </a:prstGeom>
          <a:solidFill>
            <a:srgbClr val="0A1638"/>
          </a:solidFill>
          <a:ln w="1905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0" tIns="0" rIns="0" bIns="0">
          <a:bodyPr rtlCol="0" anchor="ctr" wrap="none"/>
          <a:lstStyle/>
          <a:p>
            <a:pPr algn="ctr"/>
            <a:r>
              <a:rPr sz="1600" b="1">
                <a:solidFill>
                  <a:srgbClr val="2FDFE5"/>
                </a:solidFill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9576" y="2468880"/>
            <a:ext cx="4683099" cy="658368"/>
          </a:xfrm>
          <a:prstGeom prst="rect">
            <a:avLst/>
          </a:prstGeom>
          <a:noFill/>
        </p:spPr>
        <p:txBody lIns="38100" tIns="25400" rIns="38100" bIns="25400"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</a:rPr>
              <a:t>Contactación multicanal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512" y="2944368"/>
            <a:ext cx="5250027" cy="1524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3045968"/>
            <a:ext cx="5250027" cy="2923032"/>
          </a:xfrm>
          <a:prstGeom prst="rect">
            <a:avLst/>
          </a:prstGeom>
          <a:noFill/>
        </p:spPr>
        <p:txBody lIns="50800" tIns="38100" rIns="50800" bIns="38100">
          <a:bodyPr wrap="square">
            <a:spAutoFit/>
          </a:bodyPr>
          <a:lstStyle/>
          <a:p>
            <a:pPr algn="l">
              <a:spcBef>
                <a:spcPts val="500"/>
              </a:spcBef>
            </a:pPr>
            <a:r>
              <a:rPr sz="1300">
                <a:solidFill>
                  <a:srgbClr val="2FDFE5"/>
                </a:solidFill>
              </a:rPr>
              <a:t>▸  </a:t>
            </a:r>
            <a:r>
              <a:rPr sz="1400">
                <a:solidFill>
                  <a:srgbClr val="D8EAFF"/>
                </a:solidFill>
              </a:rPr>
              <a:t>Primeras comunicaciones: teléfono, SMS, email y mensajería</a:t>
            </a:r>
          </a:p>
          <a:p>
            <a:pPr algn="l">
              <a:spcBef>
                <a:spcPts val="500"/>
              </a:spcBef>
            </a:pPr>
            <a:r>
              <a:rPr sz="1300">
                <a:solidFill>
                  <a:srgbClr val="2FDFE5"/>
                </a:solidFill>
              </a:rPr>
              <a:t>▸  </a:t>
            </a:r>
            <a:r>
              <a:rPr sz="1400">
                <a:solidFill>
                  <a:srgbClr val="D8EAFF"/>
                </a:solidFill>
              </a:rPr>
              <a:t>Verificación de datos de contacto y situación del cliente</a:t>
            </a:r>
          </a:p>
          <a:p>
            <a:pPr algn="l">
              <a:spcBef>
                <a:spcPts val="500"/>
              </a:spcBef>
            </a:pPr>
            <a:r>
              <a:rPr sz="1300">
                <a:solidFill>
                  <a:srgbClr val="2FDFE5"/>
                </a:solidFill>
              </a:rPr>
              <a:t>▸  </a:t>
            </a:r>
            <a:r>
              <a:rPr sz="1400">
                <a:solidFill>
                  <a:srgbClr val="D8EAFF"/>
                </a:solidFill>
              </a:rPr>
              <a:t>Búsqueda activa de datos en no contactados o sin localización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83299" y="2267712"/>
            <a:ext cx="5579211" cy="3785616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83299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84467" y="2468880"/>
            <a:ext cx="347472" cy="347472"/>
          </a:xfrm>
          <a:prstGeom prst="ellipse">
            <a:avLst/>
          </a:prstGeom>
          <a:solidFill>
            <a:srgbClr val="0A1638"/>
          </a:solidFill>
          <a:ln w="1905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0" tIns="0" rIns="0" bIns="0">
          <a:bodyPr rtlCol="0" anchor="ctr" wrap="none"/>
          <a:lstStyle/>
          <a:p>
            <a:pPr algn="ctr"/>
            <a:r>
              <a:rPr sz="1600" b="1">
                <a:solidFill>
                  <a:srgbClr val="2FDFE5"/>
                </a:solidFill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59955" y="2468880"/>
            <a:ext cx="4683099" cy="658368"/>
          </a:xfrm>
          <a:prstGeom prst="rect">
            <a:avLst/>
          </a:prstGeom>
          <a:noFill/>
        </p:spPr>
        <p:txBody lIns="38100" tIns="25400" rIns="38100" bIns="25400"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</a:rPr>
              <a:t>Acuerdos personalizados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47891" y="2944368"/>
            <a:ext cx="5250027" cy="1524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7891" y="3045968"/>
            <a:ext cx="5250027" cy="2923032"/>
          </a:xfrm>
          <a:prstGeom prst="rect">
            <a:avLst/>
          </a:prstGeom>
          <a:noFill/>
        </p:spPr>
        <p:txBody lIns="50800" tIns="38100" rIns="50800" bIns="38100">
          <a:bodyPr wrap="square">
            <a:spAutoFit/>
          </a:bodyPr>
          <a:lstStyle/>
          <a:p>
            <a:pPr algn="l">
              <a:spcBef>
                <a:spcPts val="500"/>
              </a:spcBef>
            </a:pPr>
            <a:r>
              <a:rPr sz="1300">
                <a:solidFill>
                  <a:srgbClr val="2FDFE5"/>
                </a:solidFill>
              </a:rPr>
              <a:t>▸  </a:t>
            </a:r>
            <a:r>
              <a:rPr sz="1400">
                <a:solidFill>
                  <a:srgbClr val="D8EAFF"/>
                </a:solidFill>
              </a:rPr>
              <a:t>Análisis de la capacidad de pago del deudor</a:t>
            </a:r>
          </a:p>
          <a:p>
            <a:pPr algn="l">
              <a:spcBef>
                <a:spcPts val="500"/>
              </a:spcBef>
            </a:pPr>
            <a:r>
              <a:rPr sz="1300">
                <a:solidFill>
                  <a:srgbClr val="2FDFE5"/>
                </a:solidFill>
              </a:rPr>
              <a:t>▸  </a:t>
            </a:r>
            <a:r>
              <a:rPr sz="1400">
                <a:solidFill>
                  <a:srgbClr val="D8EAFF"/>
                </a:solidFill>
              </a:rPr>
              <a:t>Propuesta de acuerdos personalizados</a:t>
            </a:r>
          </a:p>
          <a:p>
            <a:pPr algn="l">
              <a:spcBef>
                <a:spcPts val="500"/>
              </a:spcBef>
            </a:pPr>
            <a:r>
              <a:rPr sz="1300">
                <a:solidFill>
                  <a:srgbClr val="2FDFE5"/>
                </a:solidFill>
              </a:rPr>
              <a:t>▸  </a:t>
            </a:r>
            <a:r>
              <a:rPr sz="1400">
                <a:solidFill>
                  <a:srgbClr val="D8EAFF"/>
                </a:solidFill>
              </a:rPr>
              <a:t>Formalización y seguimiento de planes de pago</a:t>
            </a:r>
          </a:p>
        </p:txBody>
      </p:sp>
      <p:pic>
        <p:nvPicPr>
          <p:cNvPr id="21" name="Picture 20" descr="logo_hori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24567" y="6062197"/>
            <a:ext cx="1965960" cy="63121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45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8" dur="45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65760"/>
            <a:ext cx="1463040" cy="274320"/>
          </a:xfrm>
          <a:prstGeom prst="rect">
            <a:avLst/>
          </a:prstGeom>
          <a:noFill/>
          <a:ln w="1524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76200" tIns="12700" rIns="76200" bIns="12700">
          <a:bodyPr rtlCol="0" anchor="ctr" wrap="none"/>
          <a:lstStyle/>
          <a:p>
            <a:pPr algn="ctr"/>
            <a:r>
              <a:rPr sz="800" b="1">
                <a:solidFill>
                  <a:srgbClr val="2FDFE5"/>
                </a:solidFill>
              </a:rPr>
              <a:t>FASE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31520"/>
            <a:ext cx="8961120" cy="9601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Gestión </a:t>
            </a:r>
            <a:r>
              <a:rPr sz="4000" b="1">
                <a:solidFill>
                  <a:srgbClr val="2FDFE5"/>
                </a:solidFill>
              </a:rPr>
              <a:t>continuada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438912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810512"/>
            <a:ext cx="9265615" cy="38404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300" i="1">
                <a:solidFill>
                  <a:srgbClr val="80A8CC"/>
                </a:solidFill>
              </a:rPr>
              <a:t>El seguimiento constante y la transparencia en el reporting mantienen cada expediente bajo control.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267712"/>
            <a:ext cx="5579211" cy="3785616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04088" y="2468880"/>
            <a:ext cx="347472" cy="347472"/>
          </a:xfrm>
          <a:prstGeom prst="ellipse">
            <a:avLst/>
          </a:prstGeom>
          <a:solidFill>
            <a:srgbClr val="0A1638"/>
          </a:solidFill>
          <a:ln w="1905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0" tIns="0" rIns="0" bIns="0">
          <a:bodyPr rtlCol="0" anchor="ctr" wrap="none"/>
          <a:lstStyle/>
          <a:p>
            <a:pPr algn="ctr"/>
            <a:r>
              <a:rPr sz="1600" b="1">
                <a:solidFill>
                  <a:srgbClr val="2FDFE5"/>
                </a:solidFill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9576" y="2468880"/>
            <a:ext cx="4683099" cy="658368"/>
          </a:xfrm>
          <a:prstGeom prst="rect">
            <a:avLst/>
          </a:prstGeom>
          <a:noFill/>
        </p:spPr>
        <p:txBody lIns="38100" tIns="25400" rIns="38100" bIns="25400"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</a:rPr>
              <a:t>Monitorización activa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512" y="2944368"/>
            <a:ext cx="5250027" cy="1524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3045968"/>
            <a:ext cx="5250027" cy="2923032"/>
          </a:xfrm>
          <a:prstGeom prst="rect">
            <a:avLst/>
          </a:prstGeom>
          <a:noFill/>
        </p:spPr>
        <p:txBody lIns="50800" tIns="38100" rIns="50800" bIns="38100">
          <a:bodyPr wrap="square">
            <a:spAutoFit/>
          </a:bodyPr>
          <a:lstStyle/>
          <a:p>
            <a:pPr algn="l">
              <a:spcBef>
                <a:spcPts val="500"/>
              </a:spcBef>
            </a:pPr>
            <a:r>
              <a:rPr sz="1300">
                <a:solidFill>
                  <a:srgbClr val="2FDFE5"/>
                </a:solidFill>
              </a:rPr>
              <a:t>▸  </a:t>
            </a:r>
            <a:r>
              <a:rPr sz="1400">
                <a:solidFill>
                  <a:srgbClr val="D8EAFF"/>
                </a:solidFill>
              </a:rPr>
              <a:t>Monitorización activa de los acuerdos alcanzados</a:t>
            </a:r>
          </a:p>
          <a:p>
            <a:pPr algn="l">
              <a:spcBef>
                <a:spcPts val="500"/>
              </a:spcBef>
            </a:pPr>
            <a:r>
              <a:rPr sz="1300">
                <a:solidFill>
                  <a:srgbClr val="2FDFE5"/>
                </a:solidFill>
              </a:rPr>
              <a:t>▸  </a:t>
            </a:r>
            <a:r>
              <a:rPr sz="1400">
                <a:solidFill>
                  <a:srgbClr val="D8EAFF"/>
                </a:solidFill>
              </a:rPr>
              <a:t>Recordatorios preventivos de vencimiento</a:t>
            </a:r>
          </a:p>
          <a:p>
            <a:pPr algn="l">
              <a:spcBef>
                <a:spcPts val="500"/>
              </a:spcBef>
            </a:pPr>
            <a:r>
              <a:rPr sz="1300">
                <a:solidFill>
                  <a:srgbClr val="2FDFE5"/>
                </a:solidFill>
              </a:rPr>
              <a:t>▸  </a:t>
            </a:r>
            <a:r>
              <a:rPr sz="1400">
                <a:solidFill>
                  <a:srgbClr val="D8EAFF"/>
                </a:solidFill>
              </a:rPr>
              <a:t>Reactivación inmediata ante incidencias o incumplimientos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83299" y="2267712"/>
            <a:ext cx="5579211" cy="3785616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83299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84467" y="2468880"/>
            <a:ext cx="347472" cy="347472"/>
          </a:xfrm>
          <a:prstGeom prst="ellipse">
            <a:avLst/>
          </a:prstGeom>
          <a:solidFill>
            <a:srgbClr val="0A1638"/>
          </a:solidFill>
          <a:ln w="1905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0" tIns="0" rIns="0" bIns="0">
          <a:bodyPr rtlCol="0" anchor="ctr" wrap="none"/>
          <a:lstStyle/>
          <a:p>
            <a:pPr algn="ctr"/>
            <a:r>
              <a:rPr sz="1600" b="1">
                <a:solidFill>
                  <a:srgbClr val="2FDFE5"/>
                </a:solidFill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59955" y="2468880"/>
            <a:ext cx="4683099" cy="658368"/>
          </a:xfrm>
          <a:prstGeom prst="rect">
            <a:avLst/>
          </a:prstGeom>
          <a:noFill/>
        </p:spPr>
        <p:txBody lIns="38100" tIns="25400" rIns="38100" bIns="25400"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</a:rPr>
              <a:t>Reporting y resultados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47891" y="2944368"/>
            <a:ext cx="5250027" cy="1524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7891" y="3045968"/>
            <a:ext cx="5250027" cy="2923032"/>
          </a:xfrm>
          <a:prstGeom prst="rect">
            <a:avLst/>
          </a:prstGeom>
          <a:noFill/>
        </p:spPr>
        <p:txBody lIns="50800" tIns="38100" rIns="50800" bIns="38100">
          <a:bodyPr wrap="square">
            <a:spAutoFit/>
          </a:bodyPr>
          <a:lstStyle/>
          <a:p>
            <a:pPr algn="l">
              <a:spcBef>
                <a:spcPts val="500"/>
              </a:spcBef>
            </a:pPr>
            <a:r>
              <a:rPr sz="1300">
                <a:solidFill>
                  <a:srgbClr val="2FDFE5"/>
                </a:solidFill>
              </a:rPr>
              <a:t>▸  </a:t>
            </a:r>
            <a:r>
              <a:rPr sz="1400">
                <a:solidFill>
                  <a:srgbClr val="D8EAFF"/>
                </a:solidFill>
              </a:rPr>
              <a:t>Actualización permanente del estado de cada expediente</a:t>
            </a:r>
          </a:p>
          <a:p>
            <a:pPr algn="l">
              <a:spcBef>
                <a:spcPts val="500"/>
              </a:spcBef>
            </a:pPr>
            <a:r>
              <a:rPr sz="1300">
                <a:solidFill>
                  <a:srgbClr val="2FDFE5"/>
                </a:solidFill>
              </a:rPr>
              <a:t>▸  </a:t>
            </a:r>
            <a:r>
              <a:rPr sz="1400">
                <a:solidFill>
                  <a:srgbClr val="D8EAFF"/>
                </a:solidFill>
              </a:rPr>
              <a:t>Informes periódicos de actividad y resultados</a:t>
            </a:r>
          </a:p>
          <a:p>
            <a:pPr algn="l">
              <a:spcBef>
                <a:spcPts val="500"/>
              </a:spcBef>
            </a:pPr>
            <a:r>
              <a:rPr sz="1300">
                <a:solidFill>
                  <a:srgbClr val="2FDFE5"/>
                </a:solidFill>
              </a:rPr>
              <a:t>▸  </a:t>
            </a:r>
            <a:r>
              <a:rPr sz="1400">
                <a:solidFill>
                  <a:srgbClr val="D8EAFF"/>
                </a:solidFill>
              </a:rPr>
              <a:t>KPIs de recuperación y productividad</a:t>
            </a:r>
          </a:p>
        </p:txBody>
      </p:sp>
      <p:pic>
        <p:nvPicPr>
          <p:cNvPr id="21" name="Picture 20" descr="logo_hori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24567" y="6062197"/>
            <a:ext cx="1965960" cy="63121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45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8" dur="45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65760"/>
            <a:ext cx="1463040" cy="274320"/>
          </a:xfrm>
          <a:prstGeom prst="rect">
            <a:avLst/>
          </a:prstGeom>
          <a:noFill/>
          <a:ln w="1524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76200" tIns="12700" rIns="76200" bIns="12700">
          <a:bodyPr rtlCol="0" anchor="ctr" wrap="none"/>
          <a:lstStyle/>
          <a:p>
            <a:pPr algn="ctr"/>
            <a:r>
              <a:rPr sz="800" b="1">
                <a:solidFill>
                  <a:srgbClr val="2FDFE5"/>
                </a:solidFill>
              </a:rPr>
              <a:t>FASE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31520"/>
            <a:ext cx="8961120" cy="9601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Cierre y </a:t>
            </a:r>
            <a:r>
              <a:rPr sz="4000" b="1">
                <a:solidFill>
                  <a:srgbClr val="2FDFE5"/>
                </a:solidFill>
              </a:rPr>
              <a:t>condiciones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438912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810512"/>
            <a:ext cx="9265615" cy="38404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300" i="1">
                <a:solidFill>
                  <a:srgbClr val="80A8CC"/>
                </a:solidFill>
              </a:rPr>
              <a:t>Solo facturamos cuando recuperamos: nuestros incentivos están alineados con los de nuestro cliente.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267712"/>
            <a:ext cx="5579211" cy="3785616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04088" y="2468880"/>
            <a:ext cx="347472" cy="347472"/>
          </a:xfrm>
          <a:prstGeom prst="ellipse">
            <a:avLst/>
          </a:prstGeom>
          <a:solidFill>
            <a:srgbClr val="0A1638"/>
          </a:solidFill>
          <a:ln w="1905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0" tIns="0" rIns="0" bIns="0">
          <a:bodyPr rtlCol="0" anchor="ctr" wrap="none"/>
          <a:lstStyle/>
          <a:p>
            <a:pPr algn="ctr"/>
            <a:r>
              <a:rPr sz="1600" b="1">
                <a:solidFill>
                  <a:srgbClr val="2FDFE5"/>
                </a:solidFill>
              </a:rPr>
              <a:t>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9576" y="2468880"/>
            <a:ext cx="4683099" cy="658368"/>
          </a:xfrm>
          <a:prstGeom prst="rect">
            <a:avLst/>
          </a:prstGeom>
          <a:noFill/>
        </p:spPr>
        <p:txBody lIns="38100" tIns="25400" rIns="38100" bIns="25400"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</a:rPr>
              <a:t>Cierre del expediente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512" y="2944368"/>
            <a:ext cx="5250027" cy="1524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3045968"/>
            <a:ext cx="5250027" cy="2923032"/>
          </a:xfrm>
          <a:prstGeom prst="rect">
            <a:avLst/>
          </a:prstGeom>
          <a:noFill/>
        </p:spPr>
        <p:txBody lIns="50800" tIns="38100" rIns="50800" bIns="38100">
          <a:bodyPr wrap="square">
            <a:spAutoFit/>
          </a:bodyPr>
          <a:lstStyle/>
          <a:p>
            <a:pPr algn="l">
              <a:spcBef>
                <a:spcPts val="500"/>
              </a:spcBef>
            </a:pPr>
            <a:r>
              <a:rPr sz="1300">
                <a:solidFill>
                  <a:srgbClr val="2FDFE5"/>
                </a:solidFill>
              </a:rPr>
              <a:t>▸  </a:t>
            </a:r>
            <a:r>
              <a:rPr sz="1400">
                <a:solidFill>
                  <a:srgbClr val="D8EAFF"/>
                </a:solidFill>
              </a:rPr>
              <a:t>Expedientes recuperados o finalizados</a:t>
            </a:r>
          </a:p>
          <a:p>
            <a:pPr algn="l">
              <a:spcBef>
                <a:spcPts val="500"/>
              </a:spcBef>
            </a:pPr>
            <a:r>
              <a:rPr sz="1300">
                <a:solidFill>
                  <a:srgbClr val="2FDFE5"/>
                </a:solidFill>
              </a:rPr>
              <a:t>▸  </a:t>
            </a:r>
            <a:r>
              <a:rPr sz="1400">
                <a:solidFill>
                  <a:srgbClr val="D8EAFF"/>
                </a:solidFill>
              </a:rPr>
              <a:t>Entrega de resultados y documentación</a:t>
            </a:r>
          </a:p>
          <a:p>
            <a:pPr algn="l">
              <a:spcBef>
                <a:spcPts val="500"/>
              </a:spcBef>
            </a:pPr>
            <a:r>
              <a:rPr sz="1300">
                <a:solidFill>
                  <a:srgbClr val="2FDFE5"/>
                </a:solidFill>
              </a:rPr>
              <a:t>▸  </a:t>
            </a:r>
            <a:r>
              <a:rPr sz="1400">
                <a:solidFill>
                  <a:srgbClr val="D8EAFF"/>
                </a:solidFill>
              </a:rPr>
              <a:t>Análisis de rendimiento y propuestas de mejora continua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83299" y="2267712"/>
            <a:ext cx="5579211" cy="3785616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83299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84467" y="2468880"/>
            <a:ext cx="347472" cy="347472"/>
          </a:xfrm>
          <a:prstGeom prst="ellipse">
            <a:avLst/>
          </a:prstGeom>
          <a:solidFill>
            <a:srgbClr val="0A1638"/>
          </a:solidFill>
          <a:ln w="1905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0" tIns="0" rIns="0" bIns="0">
          <a:bodyPr rtlCol="0" anchor="ctr" wrap="none"/>
          <a:lstStyle/>
          <a:p>
            <a:pPr algn="ctr"/>
            <a:r>
              <a:rPr sz="1600" b="1">
                <a:solidFill>
                  <a:srgbClr val="2FDFE5"/>
                </a:solidFill>
              </a:rPr>
              <a:t>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59955" y="2468880"/>
            <a:ext cx="4683099" cy="658368"/>
          </a:xfrm>
          <a:prstGeom prst="rect">
            <a:avLst/>
          </a:prstGeom>
          <a:noFill/>
        </p:spPr>
        <p:txBody lIns="38100" tIns="25400" rIns="38100" bIns="25400"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</a:rPr>
              <a:t>Honorarios y condiciones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47891" y="2944368"/>
            <a:ext cx="5250027" cy="1524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7891" y="3045968"/>
            <a:ext cx="5250027" cy="2923032"/>
          </a:xfrm>
          <a:prstGeom prst="rect">
            <a:avLst/>
          </a:prstGeom>
          <a:noFill/>
        </p:spPr>
        <p:txBody lIns="50800" tIns="38100" rIns="50800" bIns="38100">
          <a:bodyPr wrap="square">
            <a:spAutoFit/>
          </a:bodyPr>
          <a:lstStyle/>
          <a:p>
            <a:pPr algn="l">
              <a:spcBef>
                <a:spcPts val="500"/>
              </a:spcBef>
            </a:pPr>
            <a:r>
              <a:rPr sz="1300">
                <a:solidFill>
                  <a:srgbClr val="2FDFE5"/>
                </a:solidFill>
              </a:rPr>
              <a:t>▸  </a:t>
            </a:r>
            <a:r>
              <a:rPr sz="1400">
                <a:solidFill>
                  <a:srgbClr val="D8EAFF"/>
                </a:solidFill>
              </a:rPr>
              <a:t>Servicio de recobro amistoso a éxito</a:t>
            </a:r>
          </a:p>
          <a:p>
            <a:pPr algn="l">
              <a:spcBef>
                <a:spcPts val="500"/>
              </a:spcBef>
            </a:pPr>
            <a:r>
              <a:rPr sz="1300">
                <a:solidFill>
                  <a:srgbClr val="2FDFE5"/>
                </a:solidFill>
              </a:rPr>
              <a:t>▸  </a:t>
            </a:r>
            <a:r>
              <a:rPr sz="1400">
                <a:solidFill>
                  <a:srgbClr val="D8EAFF"/>
                </a:solidFill>
              </a:rPr>
              <a:t>Retribución escalada según tipología de deuda</a:t>
            </a:r>
          </a:p>
          <a:p>
            <a:pPr algn="l">
              <a:spcBef>
                <a:spcPts val="500"/>
              </a:spcBef>
            </a:pPr>
            <a:r>
              <a:rPr sz="1300">
                <a:solidFill>
                  <a:srgbClr val="2FDFE5"/>
                </a:solidFill>
              </a:rPr>
              <a:t>▸  </a:t>
            </a:r>
            <a:r>
              <a:rPr sz="1400">
                <a:solidFill>
                  <a:srgbClr val="D8EAFF"/>
                </a:solidFill>
              </a:rPr>
              <a:t>Sin costes fijos: solo pagamos si recuperamos</a:t>
            </a:r>
          </a:p>
        </p:txBody>
      </p:sp>
      <p:pic>
        <p:nvPicPr>
          <p:cNvPr id="21" name="Picture 20" descr="logo_hori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24567" y="6062197"/>
            <a:ext cx="1965960" cy="63121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45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8" dur="45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65760"/>
            <a:ext cx="1463040" cy="274320"/>
          </a:xfrm>
          <a:prstGeom prst="rect">
            <a:avLst/>
          </a:prstGeom>
          <a:noFill/>
          <a:ln w="1524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76200" tIns="12700" rIns="76200" bIns="12700">
          <a:bodyPr rtlCol="0" anchor="ctr" wrap="none"/>
          <a:lstStyle/>
          <a:p>
            <a:pPr algn="ctr"/>
            <a:r>
              <a:rPr sz="800" b="1">
                <a:solidFill>
                  <a:srgbClr val="2FDFE5"/>
                </a:solidFill>
              </a:rPr>
              <a:t>FASE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31520"/>
            <a:ext cx="8961120" cy="9601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Servicios </a:t>
            </a:r>
            <a:r>
              <a:rPr sz="4000" b="1">
                <a:solidFill>
                  <a:srgbClr val="2FDFE5"/>
                </a:solidFill>
              </a:rPr>
              <a:t>adicionales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438912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920240"/>
            <a:ext cx="5579211" cy="1993392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920240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85800" y="2084832"/>
            <a:ext cx="329184" cy="329184"/>
          </a:xfrm>
          <a:prstGeom prst="ellipse">
            <a:avLst/>
          </a:prstGeom>
          <a:solidFill>
            <a:srgbClr val="0A1638"/>
          </a:solidFill>
          <a:ln w="1905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0" tIns="0" rIns="0" bIns="0">
          <a:bodyPr rtlCol="0" anchor="ctr" wrap="none"/>
          <a:lstStyle/>
          <a:p>
            <a:pPr algn="ctr"/>
            <a:r>
              <a:rPr sz="1600" b="1">
                <a:solidFill>
                  <a:srgbClr val="2FDFE5"/>
                </a:solidFill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084832"/>
            <a:ext cx="4756251" cy="585216"/>
          </a:xfrm>
          <a:prstGeom prst="rect">
            <a:avLst/>
          </a:prstGeom>
          <a:noFill/>
        </p:spPr>
        <p:txBody lIns="38100" tIns="25400" rIns="38100" bIns="25400"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</a:rPr>
              <a:t>Vía monitoria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9224" y="2542032"/>
            <a:ext cx="5286603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630932"/>
            <a:ext cx="5286603" cy="1216660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1400">
                <a:solidFill>
                  <a:srgbClr val="D8EAFF"/>
                </a:solidFill>
              </a:rPr>
              <a:t>Tramitación de procedimientos monitorios para reclamar la deuda por vía judicial cuando la vía amistosa no es suficiente.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83299" y="1920240"/>
            <a:ext cx="5579211" cy="1993392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83299" y="1920240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66179" y="2084832"/>
            <a:ext cx="329184" cy="329184"/>
          </a:xfrm>
          <a:prstGeom prst="ellipse">
            <a:avLst/>
          </a:prstGeom>
          <a:solidFill>
            <a:srgbClr val="0A1638"/>
          </a:solidFill>
          <a:ln w="1905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0" tIns="0" rIns="0" bIns="0">
          <a:bodyPr rtlCol="0" anchor="ctr" wrap="none"/>
          <a:lstStyle/>
          <a:p>
            <a:pPr algn="ctr"/>
            <a:r>
              <a:rPr sz="1600" b="1">
                <a:solidFill>
                  <a:srgbClr val="2FDFE5"/>
                </a:solidFill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23379" y="2084832"/>
            <a:ext cx="4756251" cy="585216"/>
          </a:xfrm>
          <a:prstGeom prst="rect">
            <a:avLst/>
          </a:prstGeom>
          <a:noFill/>
        </p:spPr>
        <p:txBody lIns="38100" tIns="25400" rIns="38100" bIns="25400"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</a:rPr>
              <a:t>Acción disuasoria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29603" y="2542032"/>
            <a:ext cx="5286603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9603" y="2630932"/>
            <a:ext cx="5286603" cy="1216660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1400">
                <a:solidFill>
                  <a:srgbClr val="D8EAFF"/>
                </a:solidFill>
              </a:rPr>
              <a:t>Identificación visible de la gestión por parte de Sendacredit como elemento disuasorio frente al impago.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059936"/>
            <a:ext cx="5579211" cy="1993392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4059936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85800" y="4224528"/>
            <a:ext cx="329184" cy="329184"/>
          </a:xfrm>
          <a:prstGeom prst="ellipse">
            <a:avLst/>
          </a:prstGeom>
          <a:solidFill>
            <a:srgbClr val="0A1638"/>
          </a:solidFill>
          <a:ln w="1905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0" tIns="0" rIns="0" bIns="0">
          <a:bodyPr rtlCol="0" anchor="ctr" wrap="none"/>
          <a:lstStyle/>
          <a:p>
            <a:pPr algn="ctr"/>
            <a:r>
              <a:rPr sz="1600" b="1">
                <a:solidFill>
                  <a:srgbClr val="2FDFE5"/>
                </a:solidFill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4224528"/>
            <a:ext cx="4756251" cy="585216"/>
          </a:xfrm>
          <a:prstGeom prst="rect">
            <a:avLst/>
          </a:prstGeom>
          <a:noFill/>
        </p:spPr>
        <p:txBody lIns="38100" tIns="25400" rIns="38100" bIns="25400"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</a:rPr>
              <a:t>Análisis de solvencia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9224" y="4681728"/>
            <a:ext cx="5286603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" y="4770628"/>
            <a:ext cx="5286603" cy="1216660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1400">
                <a:solidFill>
                  <a:srgbClr val="D8EAFF"/>
                </a:solidFill>
              </a:rPr>
              <a:t>Estudio de la capacidad económica real del deudor para orientar mejor la estrategia de recobro.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83299" y="4059936"/>
            <a:ext cx="5579211" cy="1993392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83299" y="4059936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66179" y="4224528"/>
            <a:ext cx="329184" cy="329184"/>
          </a:xfrm>
          <a:prstGeom prst="ellipse">
            <a:avLst/>
          </a:prstGeom>
          <a:solidFill>
            <a:srgbClr val="0A1638"/>
          </a:solidFill>
          <a:ln w="1905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0" tIns="0" rIns="0" bIns="0">
          <a:bodyPr rtlCol="0" anchor="ctr" wrap="none"/>
          <a:lstStyle/>
          <a:p>
            <a:pPr algn="ctr"/>
            <a:r>
              <a:rPr sz="1600" b="1">
                <a:solidFill>
                  <a:srgbClr val="2FDFE5"/>
                </a:solidFill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23379" y="4224528"/>
            <a:ext cx="4756251" cy="585216"/>
          </a:xfrm>
          <a:prstGeom prst="rect">
            <a:avLst/>
          </a:prstGeom>
          <a:noFill/>
        </p:spPr>
        <p:txBody lIns="38100" tIns="25400" rIns="38100" bIns="25400"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</a:rPr>
              <a:t>Ficheros de morosidad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29603" y="4681728"/>
            <a:ext cx="5286603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29603" y="4770628"/>
            <a:ext cx="5286603" cy="1216660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1400">
                <a:solidFill>
                  <a:srgbClr val="D8EAFF"/>
                </a:solidFill>
              </a:rPr>
              <a:t>Registro del deudor en ficheros de morosidad como medida adicional de presión y prevención.</a:t>
            </a:r>
          </a:p>
        </p:txBody>
      </p:sp>
      <p:pic>
        <p:nvPicPr>
          <p:cNvPr id="32" name="Picture 31" descr="logo_hori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24567" y="6062197"/>
            <a:ext cx="1965960" cy="63121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450" fill="hold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8" dur="45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320"/>
                            </p:stCondLst>
                            <p:childTnLst>
                              <p:animEffect transition="in" filter="wipe(up)">
                                <p:cBhvr>
                                  <p:cTn id="10" dur="45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480"/>
                            </p:stCondLst>
                            <p:childTnLst>
                              <p:animEffect transition="in" filter="wipe(up)">
                                <p:cBhvr>
                                  <p:cTn id="12" dur="450" fill="hold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building_croppe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1055" y="0"/>
            <a:ext cx="512064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071055" y="0"/>
            <a:ext cx="5120640" cy="6858000"/>
          </a:xfrm>
          <a:prstGeom prst="rect">
            <a:avLst/>
          </a:prstGeom>
          <a:solidFill>
            <a:srgbClr val="060E24">
              <a:alpha val="2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032955" y="0"/>
            <a:ext cx="38100" cy="68580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rou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310896"/>
            <a:ext cx="1024128" cy="59399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02920" y="1417320"/>
            <a:ext cx="1554480" cy="274320"/>
          </a:xfrm>
          <a:prstGeom prst="rect">
            <a:avLst/>
          </a:prstGeom>
          <a:noFill/>
          <a:ln w="1524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76200" tIns="12700" rIns="76200" bIns="12700">
          <a:bodyPr rtlCol="0" anchor="ctr" wrap="none"/>
          <a:lstStyle/>
          <a:p>
            <a:pPr algn="ctr"/>
            <a:r>
              <a:rPr sz="800" b="1">
                <a:solidFill>
                  <a:srgbClr val="2FDFE5"/>
                </a:solidFill>
              </a:rPr>
              <a:t>CONTACTO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801368"/>
            <a:ext cx="5852160" cy="105156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Hablemos de tu </a:t>
            </a:r>
          </a:p>
          <a:p>
            <a:pPr algn="l"/>
            <a:r>
              <a:rPr sz="3000" b="1">
                <a:solidFill>
                  <a:srgbClr val="2FDFE5"/>
                </a:solidFill>
              </a:rPr>
              <a:t>cartera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834640"/>
            <a:ext cx="347472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971800"/>
            <a:ext cx="5669280" cy="402336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100" i="1">
                <a:solidFill>
                  <a:srgbClr val="C0E8FF"/>
                </a:solidFill>
              </a:rPr>
              <a:t>Nuestros equipos están disponibles para comenzar de inmediato.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401568"/>
            <a:ext cx="2157984" cy="1920240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401568"/>
            <a:ext cx="2157984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" y="3557016"/>
            <a:ext cx="1901952" cy="310896"/>
          </a:xfrm>
          <a:prstGeom prst="rect">
            <a:avLst/>
          </a:prstGeom>
          <a:noFill/>
        </p:spPr>
        <p:txBody lIns="38100" tIns="25400" rIns="38100" bIns="25400">
          <a:bodyPr wrap="none">
            <a:spAutoFit/>
          </a:bodyPr>
          <a:lstStyle/>
          <a:p>
            <a:pPr algn="l"/>
            <a:r>
              <a:rPr sz="1300" b="1">
                <a:solidFill>
                  <a:srgbClr val="2FDFE5"/>
                </a:solidFill>
              </a:rPr>
              <a:t>MADRID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" y="3904488"/>
            <a:ext cx="1901952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" y="3980688"/>
            <a:ext cx="1901952" cy="1234440"/>
          </a:xfrm>
          <a:prstGeom prst="rect">
            <a:avLst/>
          </a:prstGeom>
          <a:noFill/>
        </p:spPr>
        <p:txBody lIns="38100" tIns="25400" rIns="38100" bIns="25400"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000">
                <a:solidFill>
                  <a:srgbClr val="D8EAFF"/>
                </a:solidFill>
              </a:rPr>
              <a:t>Gran Vía 28, 4ª planta</a:t>
            </a:r>
          </a:p>
          <a:p>
            <a:pPr algn="l">
              <a:spcBef>
                <a:spcPts val="300"/>
              </a:spcBef>
            </a:pPr>
            <a:r>
              <a:rPr sz="1000">
                <a:solidFill>
                  <a:srgbClr val="2FDFE5"/>
                </a:solidFill>
              </a:rPr>
              <a:t>+34 910 000 001</a:t>
            </a:r>
          </a:p>
          <a:p>
            <a:pPr algn="l">
              <a:spcBef>
                <a:spcPts val="300"/>
              </a:spcBef>
            </a:pPr>
            <a:r>
              <a:rPr sz="1000">
                <a:solidFill>
                  <a:srgbClr val="80A8CC"/>
                </a:solidFill>
              </a:rPr>
              <a:t>madrid@sendacredit.com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25496" y="3401568"/>
            <a:ext cx="2157984" cy="1920240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825496" y="3401568"/>
            <a:ext cx="2157984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53512" y="3557016"/>
            <a:ext cx="1901952" cy="310896"/>
          </a:xfrm>
          <a:prstGeom prst="rect">
            <a:avLst/>
          </a:prstGeom>
          <a:noFill/>
        </p:spPr>
        <p:txBody lIns="38100" tIns="25400" rIns="38100" bIns="25400">
          <a:bodyPr wrap="none">
            <a:spAutoFit/>
          </a:bodyPr>
          <a:lstStyle/>
          <a:p>
            <a:pPr algn="l"/>
            <a:r>
              <a:rPr sz="1300" b="1">
                <a:solidFill>
                  <a:srgbClr val="2FDFE5"/>
                </a:solidFill>
              </a:rPr>
              <a:t>BARCELONA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53512" y="3904488"/>
            <a:ext cx="1901952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53512" y="3980688"/>
            <a:ext cx="1901952" cy="1234440"/>
          </a:xfrm>
          <a:prstGeom prst="rect">
            <a:avLst/>
          </a:prstGeom>
          <a:noFill/>
        </p:spPr>
        <p:txBody lIns="38100" tIns="25400" rIns="38100" bIns="25400"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000">
                <a:solidFill>
                  <a:srgbClr val="D8EAFF"/>
                </a:solidFill>
              </a:rPr>
              <a:t>Diagonal 211, 3ª planta</a:t>
            </a:r>
          </a:p>
          <a:p>
            <a:pPr algn="l">
              <a:spcBef>
                <a:spcPts val="300"/>
              </a:spcBef>
            </a:pPr>
            <a:r>
              <a:rPr sz="1000">
                <a:solidFill>
                  <a:srgbClr val="2FDFE5"/>
                </a:solidFill>
              </a:rPr>
              <a:t>+34 932 000 002</a:t>
            </a:r>
          </a:p>
          <a:p>
            <a:pPr algn="l">
              <a:spcBef>
                <a:spcPts val="300"/>
              </a:spcBef>
            </a:pPr>
            <a:r>
              <a:rPr sz="1000">
                <a:solidFill>
                  <a:srgbClr val="80A8CC"/>
                </a:solidFill>
              </a:rPr>
              <a:t>barcelona@sendacredit.com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48072" y="3401568"/>
            <a:ext cx="2157984" cy="1920240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148072" y="3401568"/>
            <a:ext cx="2157984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76088" y="3557016"/>
            <a:ext cx="1901952" cy="310896"/>
          </a:xfrm>
          <a:prstGeom prst="rect">
            <a:avLst/>
          </a:prstGeom>
          <a:noFill/>
        </p:spPr>
        <p:txBody lIns="38100" tIns="25400" rIns="38100" bIns="25400">
          <a:bodyPr wrap="none">
            <a:spAutoFit/>
          </a:bodyPr>
          <a:lstStyle/>
          <a:p>
            <a:pPr algn="l"/>
            <a:r>
              <a:rPr sz="1300" b="1">
                <a:solidFill>
                  <a:srgbClr val="2FDFE5"/>
                </a:solidFill>
              </a:rPr>
              <a:t>MÁLAGA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276088" y="3904488"/>
            <a:ext cx="1901952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76088" y="3980688"/>
            <a:ext cx="1901952" cy="1234440"/>
          </a:xfrm>
          <a:prstGeom prst="rect">
            <a:avLst/>
          </a:prstGeom>
          <a:noFill/>
        </p:spPr>
        <p:txBody lIns="38100" tIns="25400" rIns="38100" bIns="25400"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000">
                <a:solidFill>
                  <a:srgbClr val="D8EAFF"/>
                </a:solidFill>
              </a:rPr>
              <a:t>Larios 12, 2ª planta</a:t>
            </a:r>
          </a:p>
          <a:p>
            <a:pPr algn="l">
              <a:spcBef>
                <a:spcPts val="300"/>
              </a:spcBef>
            </a:pPr>
            <a:r>
              <a:rPr sz="1000">
                <a:solidFill>
                  <a:srgbClr val="2FDFE5"/>
                </a:solidFill>
              </a:rPr>
              <a:t>+34 952 000 003</a:t>
            </a:r>
          </a:p>
          <a:p>
            <a:pPr algn="l">
              <a:spcBef>
                <a:spcPts val="300"/>
              </a:spcBef>
            </a:pPr>
            <a:r>
              <a:rPr sz="1000">
                <a:solidFill>
                  <a:srgbClr val="80A8CC"/>
                </a:solidFill>
              </a:rPr>
              <a:t>malaga@sendacredit.com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19088"/>
            <a:ext cx="4572000" cy="274320"/>
          </a:xfrm>
          <a:prstGeom prst="rect">
            <a:avLst/>
          </a:prstGeom>
          <a:noFill/>
        </p:spPr>
        <p:txBody lIns="0" tIns="25400" rIns="0" bIns="25400">
          <a:bodyPr wrap="none">
            <a:spAutoFit/>
          </a:bodyPr>
          <a:lstStyle/>
          <a:p>
            <a:pPr algn="l"/>
            <a:r>
              <a:rPr sz="950">
                <a:solidFill>
                  <a:srgbClr val="2FDFE5"/>
                </a:solidFill>
              </a:rPr>
              <a:t>www.sendacredit.com</a:t>
            </a:r>
          </a:p>
        </p:txBody>
      </p:sp>
      <p:pic>
        <p:nvPicPr>
          <p:cNvPr id="29" name="Picture 28" descr="logo_horiz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24567" y="6062197"/>
            <a:ext cx="1965960" cy="63121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45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8" dur="45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320"/>
                            </p:stCondLst>
                            <p:childTnLst>
                              <p:animEffect transition="in" filter="wipe(up)">
                                <p:cBhvr>
                                  <p:cTn id="10" dur="450" fill="hold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