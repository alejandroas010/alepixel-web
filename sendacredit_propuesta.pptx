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building_cropp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015" y="0"/>
            <a:ext cx="658368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608015" y="0"/>
            <a:ext cx="6583680" cy="6858000"/>
          </a:xfrm>
          <a:prstGeom prst="rect">
            <a:avLst/>
          </a:prstGeom>
          <a:solidFill>
            <a:srgbClr val="060E24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69915" y="0"/>
            <a:ext cx="38100" cy="68580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64208"/>
            <a:ext cx="5303520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000" b="1">
                <a:solidFill>
                  <a:srgbClr val="2FDFE5"/>
                </a:solidFill>
              </a:rPr>
              <a:t>SENDACREDIT GROUP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03120"/>
            <a:ext cx="292608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9424"/>
            <a:ext cx="5669280" cy="25603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</a:rPr>
              <a:t>Circuito de</a:t>
            </a:r>
          </a:p>
          <a:p>
            <a:pPr algn="l"/>
            <a:r>
              <a:rPr sz="4200" b="1">
                <a:solidFill>
                  <a:srgbClr val="FFFFFF"/>
                </a:solidFill>
              </a:rPr>
              <a:t>gestión de</a:t>
            </a:r>
          </a:p>
          <a:p>
            <a:pPr algn="l"/>
            <a:r>
              <a:rPr sz="4200" b="1">
                <a:solidFill>
                  <a:srgbClr val="2FDFE5"/>
                </a:solidFill>
              </a:rPr>
              <a:t>expedientes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846320"/>
            <a:ext cx="5303520" cy="47548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150" i="1">
                <a:solidFill>
                  <a:srgbClr val="C0E8FF"/>
                </a:solidFill>
              </a:rPr>
              <a:t>Propuesta de colaboración · Recuperación de deuda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31375" y="6400800"/>
            <a:ext cx="2377440" cy="310896"/>
          </a:xfrm>
          <a:prstGeom prst="rect">
            <a:avLst/>
          </a:prstGeom>
          <a:noFill/>
        </p:spPr>
        <p:txBody lIns="50800" tIns="25400" rIns="50800" bIns="25400">
          <a:bodyPr wrap="none">
            <a:spAutoFit/>
          </a:bodyPr>
          <a:lstStyle/>
          <a:p>
            <a:pPr algn="r"/>
            <a:r>
              <a:rPr sz="850">
                <a:solidFill>
                  <a:srgbClr val="80A8CC"/>
                </a:solidFill>
              </a:rPr>
              <a:t>2025 – 2026</a:t>
            </a:r>
          </a:p>
        </p:txBody>
      </p:sp>
    </p:spTree>
  </p:cSld>
  <p:clrMapOvr>
    <a:masterClrMapping/>
  </p:clrMapOvr>
  <p:transition dur="550" spd="fast">
    <p:push dir="u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Inicio del </a:t>
            </a:r>
            <a:r>
              <a:rPr sz="4000" b="1">
                <a:solidFill>
                  <a:srgbClr val="2FDFE5"/>
                </a:solidFill>
              </a:rPr>
              <a:t>expediente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Cada caso entra en nuestro circuito con un punto de partida limpio, verificado y correctamente segmentado.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1  </a:t>
            </a:r>
            <a:r>
              <a:rPr sz="1900" b="1">
                <a:solidFill>
                  <a:srgbClr val="FFFFFF"/>
                </a:solidFill>
              </a:rPr>
              <a:t>Recepción e integración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Recepción de operaciones asignadas por nuestro cliente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Validación de datos y documentación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Integración en la plataforma de gestión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2  </a:t>
            </a:r>
            <a:r>
              <a:rPr sz="1900" b="1">
                <a:solidFill>
                  <a:srgbClr val="FFFFFF"/>
                </a:solidFill>
              </a:rPr>
              <a:t>Clasificación y estrategia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Clasificación por antigüedad, importe, tipología y probabilidad de recuperación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Definición de la estrategia de gestión más adecuada para cada expediente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Valoración de la actividad o sector del cliente para personalizar el enfoque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Activación y </a:t>
            </a:r>
            <a:r>
              <a:rPr sz="4000" b="1">
                <a:solidFill>
                  <a:srgbClr val="2FDFE5"/>
                </a:solidFill>
              </a:rPr>
              <a:t>contacto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Multiplicamos los canales de contacto y buscamos siempre la vía amistosa para llegar a un acuerdo.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3  </a:t>
            </a:r>
            <a:r>
              <a:rPr sz="1900" b="1">
                <a:solidFill>
                  <a:srgbClr val="FFFFFF"/>
                </a:solidFill>
              </a:rPr>
              <a:t>Contactación multicanal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Primeras comunicaciones: teléfono, SMS, email y mensajería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Verificación de datos de contacto y situación del cliente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Búsqueda activa de datos en no contactados o sin localización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4  </a:t>
            </a:r>
            <a:r>
              <a:rPr sz="1900" b="1">
                <a:solidFill>
                  <a:srgbClr val="FFFFFF"/>
                </a:solidFill>
              </a:rPr>
              <a:t>Acuerdos personalizados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Análisis de la capacidad de pago del deudor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Propuesta de acuerdos personalizados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Formalización y seguimiento de planes de pago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Gestión </a:t>
            </a:r>
            <a:r>
              <a:rPr sz="4000" b="1">
                <a:solidFill>
                  <a:srgbClr val="2FDFE5"/>
                </a:solidFill>
              </a:rPr>
              <a:t>continuada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El seguimiento constante y la transparencia en el reporting mantienen cada expediente bajo control.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5  </a:t>
            </a:r>
            <a:r>
              <a:rPr sz="1900" b="1">
                <a:solidFill>
                  <a:srgbClr val="FFFFFF"/>
                </a:solidFill>
              </a:rPr>
              <a:t>Monitorización activa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Monitorización activa de los acuerdos alcanzados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Recordatorios preventivos de vencimiento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Reactivación inmediata ante incidencias o incumplimientos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6  </a:t>
            </a:r>
            <a:r>
              <a:rPr sz="1900" b="1">
                <a:solidFill>
                  <a:srgbClr val="FFFFFF"/>
                </a:solidFill>
              </a:rPr>
              <a:t>Reporting y resultados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Actualización permanente del estado de cada expediente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Informes periódicos de actividad y resultados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KPIs de recuperación y productividad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Cierre y </a:t>
            </a:r>
            <a:r>
              <a:rPr sz="4000" b="1">
                <a:solidFill>
                  <a:srgbClr val="2FDFE5"/>
                </a:solidFill>
              </a:rPr>
              <a:t>condiciones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Solo facturamos cuando recuperamos: nuestros incentivos están alineados con los de nuestro cliente.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7  </a:t>
            </a:r>
            <a:r>
              <a:rPr sz="1900" b="1">
                <a:solidFill>
                  <a:srgbClr val="FFFFFF"/>
                </a:solidFill>
              </a:rPr>
              <a:t>Cierre del expediente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Expedientes recuperados o finalizados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Entrega de resultados y documentación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Análisis de rendimiento y propuestas de mejora continua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8  </a:t>
            </a:r>
            <a:r>
              <a:rPr sz="1900" b="1">
                <a:solidFill>
                  <a:srgbClr val="FFFFFF"/>
                </a:solidFill>
              </a:rPr>
              <a:t>Honorarios y condiciones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Servicio de recobro amistoso a éxito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Retribución escalada según tipología de deuda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Sin costes fijos: solo pagamos si recuperamos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Servicios </a:t>
            </a:r>
            <a:r>
              <a:rPr sz="4000" b="1">
                <a:solidFill>
                  <a:srgbClr val="2FDFE5"/>
                </a:solidFill>
              </a:rPr>
              <a:t>adicionales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920240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1  </a:t>
            </a:r>
            <a:r>
              <a:rPr sz="1700" b="1">
                <a:solidFill>
                  <a:srgbClr val="FFFFFF"/>
                </a:solidFill>
              </a:rPr>
              <a:t>Vía monitoria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" y="2779776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2881376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Tramitación de procedimientos monitorios para reclamar la deuda por vía judicial cuando la vía amistosa no es suficiente.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83299" y="1920240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3299" y="1920240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6179" y="2103120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2  </a:t>
            </a:r>
            <a:r>
              <a:rPr sz="1700" b="1">
                <a:solidFill>
                  <a:srgbClr val="FFFFFF"/>
                </a:solidFill>
              </a:rPr>
              <a:t>Acción disuasoria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29603" y="2779776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9603" y="2881376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Identificación visible de la gestión por parte de Sendacredit como elemento disuasorio frente al impago.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059936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059936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242816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3  </a:t>
            </a:r>
            <a:r>
              <a:rPr sz="1700" b="1">
                <a:solidFill>
                  <a:srgbClr val="FFFFFF"/>
                </a:solidFill>
              </a:rPr>
              <a:t>Análisis de solvencia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" y="4919472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5021072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Estudio de la capacidad económica real del deudor para orientar mejor la estrategia de recobro.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83299" y="4059936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3299" y="4059936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6179" y="4242816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4  </a:t>
            </a:r>
            <a:r>
              <a:rPr sz="1700" b="1">
                <a:solidFill>
                  <a:srgbClr val="FFFFFF"/>
                </a:solidFill>
              </a:rPr>
              <a:t>Ficheros de morosidad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29603" y="4919472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9603" y="5021072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Registro del deudor en ficheros de morosidad como medida adicional de presión y prevención.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26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28" dur="38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0" dur="38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2" dur="38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4" dur="38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36" dur="38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38" dur="38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0" dur="38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2" dur="38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4" dur="38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ac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89888"/>
            <a:ext cx="1554480" cy="27432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CONTACTO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55648"/>
            <a:ext cx="11323015" cy="100584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</a:rPr>
              <a:t>Hablemos de tu </a:t>
            </a:r>
          </a:p>
          <a:p>
            <a:pPr algn="l"/>
            <a:r>
              <a:rPr sz="3800" b="1">
                <a:solidFill>
                  <a:srgbClr val="2FDFE5"/>
                </a:solidFill>
              </a:rPr>
              <a:t>cartera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816352"/>
            <a:ext cx="11323015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944368"/>
            <a:ext cx="11323015" cy="402336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C0E8FF"/>
                </a:solidFill>
              </a:rPr>
              <a:t>Nuestros equipos están disponibles para comenzar de inmediato.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547872"/>
            <a:ext cx="3603650" cy="2514600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547872"/>
            <a:ext cx="360365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3767328"/>
            <a:ext cx="3201314" cy="384048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MADRID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4206240"/>
            <a:ext cx="327446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4333240"/>
            <a:ext cx="3201314" cy="1572768"/>
          </a:xfrm>
          <a:prstGeom prst="rect">
            <a:avLst/>
          </a:prstGeom>
          <a:noFill/>
        </p:spPr>
        <p:txBody lIns="38100" tIns="38100" rIns="38100" bIns="38100"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300">
                <a:solidFill>
                  <a:srgbClr val="D8EAFF"/>
                </a:solidFill>
              </a:rPr>
              <a:t>Gran Vía 28, 4ª planta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2FDFE5"/>
                </a:solidFill>
              </a:rPr>
              <a:t>+34 910 000 001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80A8CC"/>
                </a:solidFill>
              </a:rPr>
              <a:t>madrid@sendacredit.com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0890" y="3547872"/>
            <a:ext cx="3603650" cy="2514600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0890" y="3547872"/>
            <a:ext cx="360365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2058" y="3767328"/>
            <a:ext cx="3201314" cy="384048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BARCELONA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45482" y="4206240"/>
            <a:ext cx="327446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2058" y="4333240"/>
            <a:ext cx="3201314" cy="1572768"/>
          </a:xfrm>
          <a:prstGeom prst="rect">
            <a:avLst/>
          </a:prstGeom>
          <a:noFill/>
        </p:spPr>
        <p:txBody lIns="38100" tIns="38100" rIns="38100" bIns="38100"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300">
                <a:solidFill>
                  <a:srgbClr val="D8EAFF"/>
                </a:solidFill>
              </a:rPr>
              <a:t>Diagonal 211, 3ª planta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2FDFE5"/>
                </a:solidFill>
              </a:rPr>
              <a:t>+34 932 000 002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80A8CC"/>
                </a:solidFill>
              </a:rPr>
              <a:t>barcelona@sendacredit.com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58860" y="3547872"/>
            <a:ext cx="3603650" cy="2514600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58860" y="3547872"/>
            <a:ext cx="360365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60028" y="3767328"/>
            <a:ext cx="3201314" cy="384048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MÁLAGA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23452" y="4206240"/>
            <a:ext cx="327446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60028" y="4333240"/>
            <a:ext cx="3201314" cy="1572768"/>
          </a:xfrm>
          <a:prstGeom prst="rect">
            <a:avLst/>
          </a:prstGeom>
          <a:noFill/>
        </p:spPr>
        <p:txBody lIns="38100" tIns="38100" rIns="38100" bIns="38100"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300">
                <a:solidFill>
                  <a:srgbClr val="D8EAFF"/>
                </a:solidFill>
              </a:rPr>
              <a:t>Larios 12, 2ª planta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2FDFE5"/>
                </a:solidFill>
              </a:rPr>
              <a:t>+34 952 000 003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80A8CC"/>
                </a:solidFill>
              </a:rPr>
              <a:t>malaga@sendacredit.com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37376"/>
            <a:ext cx="5486400" cy="274320"/>
          </a:xfrm>
          <a:prstGeom prst="rect">
            <a:avLst/>
          </a:prstGeom>
          <a:noFill/>
        </p:spPr>
        <p:txBody lIns="0" tIns="25400" rIns="0" bIns="25400">
          <a:bodyPr wrap="none">
            <a:spAutoFit/>
          </a:bodyPr>
          <a:lstStyle/>
          <a:p>
            <a:pPr algn="l"/>
            <a:r>
              <a:rPr sz="1000">
                <a:solidFill>
                  <a:srgbClr val="2FDFE5"/>
                </a:solidFill>
              </a:rPr>
              <a:t>www.sendacredit.com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