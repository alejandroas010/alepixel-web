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jpg"/><Relationship Id="rId4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jpg"/><Relationship Id="rId4" Type="http://schemas.openxmlformats.org/officeDocument/2006/relationships/image" Target="../media/image3.png"/><Relationship Id="rId5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over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building_cropped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08015" y="0"/>
            <a:ext cx="6583680" cy="68580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608015" y="0"/>
            <a:ext cx="6583680" cy="6858000"/>
          </a:xfrm>
          <a:prstGeom prst="rect">
            <a:avLst/>
          </a:prstGeom>
          <a:solidFill>
            <a:srgbClr val="060E24">
              <a:alpha val="2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569915" y="0"/>
            <a:ext cx="38100" cy="685800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_roun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8368" y="347472"/>
            <a:ext cx="1078992" cy="625815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58368" y="1664208"/>
            <a:ext cx="5303520" cy="384048"/>
          </a:xfrm>
          <a:prstGeom prst="rect">
            <a:avLst/>
          </a:prstGeom>
          <a:noFill/>
        </p:spPr>
        <p:txBody lIns="0" tIns="0" rIns="0" bIns="0">
          <a:bodyPr wrap="none">
            <a:spAutoFit/>
          </a:bodyPr>
          <a:lstStyle/>
          <a:p>
            <a:pPr algn="l"/>
            <a:r>
              <a:rPr sz="1000" b="1">
                <a:solidFill>
                  <a:srgbClr val="2FDFE5"/>
                </a:solidFill>
              </a:rPr>
              <a:t>SENDACREDIT GROUP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2103120"/>
            <a:ext cx="2926080" cy="3175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2249424"/>
            <a:ext cx="5669280" cy="2560320"/>
          </a:xfrm>
          <a:prstGeom prst="rect">
            <a:avLst/>
          </a:prstGeom>
          <a:noFill/>
        </p:spPr>
        <p:txBody lIns="0" tIns="0" rIns="0" bIns="0">
          <a:bodyPr wrap="square">
            <a:spAutoFit/>
          </a:bodyPr>
          <a:lstStyle/>
          <a:p>
            <a:pPr algn="l"/>
            <a:r>
              <a:rPr sz="4200" b="1">
                <a:solidFill>
                  <a:srgbClr val="FFFFFF"/>
                </a:solidFill>
              </a:rPr>
              <a:t>Circuito de</a:t>
            </a:r>
          </a:p>
          <a:p>
            <a:pPr algn="l"/>
            <a:r>
              <a:rPr sz="4200" b="1">
                <a:solidFill>
                  <a:srgbClr val="FFFFFF"/>
                </a:solidFill>
              </a:rPr>
              <a:t>gestión de</a:t>
            </a:r>
          </a:p>
          <a:p>
            <a:pPr algn="l"/>
            <a:r>
              <a:rPr sz="4200" b="1">
                <a:solidFill>
                  <a:srgbClr val="2FDFE5"/>
                </a:solidFill>
              </a:rPr>
              <a:t>expedientes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4846320"/>
            <a:ext cx="5303520" cy="475488"/>
          </a:xfrm>
          <a:prstGeom prst="rect">
            <a:avLst/>
          </a:prstGeom>
          <a:noFill/>
        </p:spPr>
        <p:txBody lIns="0" tIns="0" rIns="0" bIns="0">
          <a:bodyPr wrap="none">
            <a:spAutoFit/>
          </a:bodyPr>
          <a:lstStyle/>
          <a:p>
            <a:pPr algn="l"/>
            <a:r>
              <a:rPr sz="1150" i="1">
                <a:solidFill>
                  <a:srgbClr val="C0E8FF"/>
                </a:solidFill>
              </a:rPr>
              <a:t>Propuesta de colaboración · Recuperación de deuda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31375" y="6400800"/>
            <a:ext cx="2377440" cy="310896"/>
          </a:xfrm>
          <a:prstGeom prst="rect">
            <a:avLst/>
          </a:prstGeom>
          <a:noFill/>
        </p:spPr>
        <p:txBody lIns="50800" tIns="25400" rIns="50800" bIns="25400">
          <a:bodyPr wrap="none">
            <a:spAutoFit/>
          </a:bodyPr>
          <a:lstStyle/>
          <a:p>
            <a:pPr algn="r"/>
            <a:r>
              <a:rPr sz="850">
                <a:solidFill>
                  <a:srgbClr val="80A8CC"/>
                </a:solidFill>
              </a:rPr>
              <a:t>2025 – 2026</a:t>
            </a:r>
          </a:p>
        </p:txBody>
      </p:sp>
    </p:spTree>
  </p:cSld>
  <p:clrMapOvr>
    <a:masterClrMapping/>
  </p:clrMapOvr>
  <p:transition dur="550" spd="fast">
    <p:push dir="u"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ontent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5080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63500" cy="6858000"/>
          </a:xfrm>
          <a:prstGeom prst="rect">
            <a:avLst/>
          </a:prstGeom>
          <a:solidFill>
            <a:srgbClr val="13B9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65760"/>
            <a:ext cx="1463040" cy="274320"/>
          </a:xfrm>
          <a:prstGeom prst="rect">
            <a:avLst/>
          </a:prstGeom>
          <a:noFill/>
          <a:ln w="15240">
            <a:solidFill>
              <a:srgbClr val="2F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 lIns="76200" tIns="12700" rIns="76200" bIns="12700">
          <a:bodyPr rtlCol="0" anchor="ctr" wrap="none"/>
          <a:lstStyle/>
          <a:p>
            <a:pPr algn="ctr"/>
            <a:r>
              <a:rPr sz="800" b="1">
                <a:solidFill>
                  <a:srgbClr val="2FDFE5"/>
                </a:solidFill>
              </a:rPr>
              <a:t>FASE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731520"/>
            <a:ext cx="8961120" cy="960120"/>
          </a:xfrm>
          <a:prstGeom prst="rect">
            <a:avLst/>
          </a:prstGeom>
          <a:noFill/>
        </p:spPr>
        <p:txBody lIns="0" tIns="0" rIns="0" bIns="0">
          <a:bodyPr wrap="square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Inicio del </a:t>
            </a:r>
            <a:r>
              <a:rPr sz="4000" b="1">
                <a:solidFill>
                  <a:srgbClr val="2FDFE5"/>
                </a:solidFill>
              </a:rPr>
              <a:t>expediente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737360"/>
            <a:ext cx="4389120" cy="3175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810512"/>
            <a:ext cx="9265615" cy="384048"/>
          </a:xfrm>
          <a:prstGeom prst="rect">
            <a:avLst/>
          </a:prstGeom>
          <a:noFill/>
        </p:spPr>
        <p:txBody lIns="0" tIns="0" rIns="0" bIns="0">
          <a:bodyPr wrap="none">
            <a:spAutoFit/>
          </a:bodyPr>
          <a:lstStyle/>
          <a:p>
            <a:pPr algn="l"/>
            <a:r>
              <a:rPr sz="1100" i="1">
                <a:solidFill>
                  <a:srgbClr val="80A8CC"/>
                </a:solidFill>
              </a:rPr>
              <a:t>Cada caso entra en nuestro circuito con un punto de partida limpio, verificado y correctamente segmentado.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2267712"/>
            <a:ext cx="5579211" cy="3785616"/>
          </a:xfrm>
          <a:prstGeom prst="rect">
            <a:avLst/>
          </a:prstGeom>
          <a:solidFill>
            <a:srgbClr val="081438"/>
          </a:solidFill>
          <a:ln w="10160">
            <a:solidFill>
              <a:srgbClr val="2F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2267712"/>
            <a:ext cx="5579211" cy="6350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04088" y="2468880"/>
            <a:ext cx="274320" cy="274320"/>
          </a:xfrm>
          <a:prstGeom prst="ellipse">
            <a:avLst/>
          </a:prstGeom>
          <a:solidFill>
            <a:srgbClr val="0A1638"/>
          </a:solidFill>
          <a:ln w="15240">
            <a:solidFill>
              <a:srgbClr val="2F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04088" y="2468880"/>
            <a:ext cx="274320" cy="274320"/>
          </a:xfrm>
          <a:prstGeom prst="rect">
            <a:avLst/>
          </a:prstGeom>
          <a:noFill/>
        </p:spPr>
        <p:txBody lIns="0" tIns="12700" rIns="0" bIns="0">
          <a:bodyPr wrap="none">
            <a:spAutoFit/>
          </a:bodyPr>
          <a:lstStyle/>
          <a:p>
            <a:pPr algn="ctr"/>
            <a:r>
              <a:rPr sz="1100" b="1">
                <a:solidFill>
                  <a:srgbClr val="2FDFE5"/>
                </a:solidFill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" y="2468880"/>
            <a:ext cx="4792827" cy="566928"/>
          </a:xfrm>
          <a:prstGeom prst="rect">
            <a:avLst/>
          </a:prstGeom>
          <a:noFill/>
        </p:spPr>
        <p:txBody lIns="38100" tIns="25400" rIns="38100" bIns="25400"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</a:rPr>
              <a:t>Recepción e integración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67512" y="2852928"/>
            <a:ext cx="5250027" cy="15240"/>
          </a:xfrm>
          <a:prstGeom prst="rect">
            <a:avLst/>
          </a:prstGeom>
          <a:solidFill>
            <a:srgbClr val="13B9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67512" y="2941828"/>
            <a:ext cx="5250027" cy="3014472"/>
          </a:xfrm>
          <a:prstGeom prst="rect">
            <a:avLst/>
          </a:prstGeom>
          <a:noFill/>
        </p:spPr>
        <p:txBody lIns="50800" tIns="38100" rIns="50800" bIns="38100">
          <a:bodyPr wrap="square">
            <a:spAutoFit/>
          </a:bodyPr>
          <a:lstStyle/>
          <a:p>
            <a:pPr algn="l">
              <a:spcBef>
                <a:spcPts val="400"/>
              </a:spcBef>
            </a:pPr>
            <a:r>
              <a:rPr sz="1100">
                <a:solidFill>
                  <a:srgbClr val="2FDFE5"/>
                </a:solidFill>
              </a:rPr>
              <a:t>▸  </a:t>
            </a:r>
            <a:r>
              <a:rPr sz="1200">
                <a:solidFill>
                  <a:srgbClr val="D8EAFF"/>
                </a:solidFill>
              </a:rPr>
              <a:t>Recepción de operaciones asignadas por nuestro cliente</a:t>
            </a:r>
          </a:p>
          <a:p>
            <a:pPr algn="l">
              <a:spcBef>
                <a:spcPts val="400"/>
              </a:spcBef>
            </a:pPr>
            <a:r>
              <a:rPr sz="1100">
                <a:solidFill>
                  <a:srgbClr val="2FDFE5"/>
                </a:solidFill>
              </a:rPr>
              <a:t>▸  </a:t>
            </a:r>
            <a:r>
              <a:rPr sz="1200">
                <a:solidFill>
                  <a:srgbClr val="D8EAFF"/>
                </a:solidFill>
              </a:rPr>
              <a:t>Validación de datos y documentación</a:t>
            </a:r>
          </a:p>
          <a:p>
            <a:pPr algn="l">
              <a:spcBef>
                <a:spcPts val="400"/>
              </a:spcBef>
            </a:pPr>
            <a:r>
              <a:rPr sz="1100">
                <a:solidFill>
                  <a:srgbClr val="2FDFE5"/>
                </a:solidFill>
              </a:rPr>
              <a:t>▸  </a:t>
            </a:r>
            <a:r>
              <a:rPr sz="1200">
                <a:solidFill>
                  <a:srgbClr val="D8EAFF"/>
                </a:solidFill>
              </a:rPr>
              <a:t>Integración en la plataforma de gestión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83299" y="2267712"/>
            <a:ext cx="5579211" cy="3785616"/>
          </a:xfrm>
          <a:prstGeom prst="rect">
            <a:avLst/>
          </a:prstGeom>
          <a:solidFill>
            <a:srgbClr val="081438"/>
          </a:solidFill>
          <a:ln w="10160">
            <a:solidFill>
              <a:srgbClr val="2F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283299" y="2267712"/>
            <a:ext cx="5579211" cy="6350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484467" y="2468880"/>
            <a:ext cx="274320" cy="274320"/>
          </a:xfrm>
          <a:prstGeom prst="ellipse">
            <a:avLst/>
          </a:prstGeom>
          <a:solidFill>
            <a:srgbClr val="0A1638"/>
          </a:solidFill>
          <a:ln w="15240">
            <a:solidFill>
              <a:srgbClr val="2F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84467" y="2468880"/>
            <a:ext cx="274320" cy="274320"/>
          </a:xfrm>
          <a:prstGeom prst="rect">
            <a:avLst/>
          </a:prstGeom>
          <a:noFill/>
        </p:spPr>
        <p:txBody lIns="0" tIns="12700" rIns="0" bIns="0">
          <a:bodyPr wrap="none">
            <a:spAutoFit/>
          </a:bodyPr>
          <a:lstStyle/>
          <a:p>
            <a:pPr algn="ctr"/>
            <a:r>
              <a:rPr sz="1100" b="1">
                <a:solidFill>
                  <a:srgbClr val="2FDFE5"/>
                </a:solidFill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68515" y="2468880"/>
            <a:ext cx="4792827" cy="566928"/>
          </a:xfrm>
          <a:prstGeom prst="rect">
            <a:avLst/>
          </a:prstGeom>
          <a:noFill/>
        </p:spPr>
        <p:txBody lIns="38100" tIns="25400" rIns="38100" bIns="25400"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</a:rPr>
              <a:t>Clasificación y estrategia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47891" y="2852928"/>
            <a:ext cx="5250027" cy="15240"/>
          </a:xfrm>
          <a:prstGeom prst="rect">
            <a:avLst/>
          </a:prstGeom>
          <a:solidFill>
            <a:srgbClr val="13B9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7891" y="2941828"/>
            <a:ext cx="5250027" cy="3014472"/>
          </a:xfrm>
          <a:prstGeom prst="rect">
            <a:avLst/>
          </a:prstGeom>
          <a:noFill/>
        </p:spPr>
        <p:txBody lIns="50800" tIns="38100" rIns="50800" bIns="38100">
          <a:bodyPr wrap="square">
            <a:spAutoFit/>
          </a:bodyPr>
          <a:lstStyle/>
          <a:p>
            <a:pPr algn="l">
              <a:spcBef>
                <a:spcPts val="400"/>
              </a:spcBef>
            </a:pPr>
            <a:r>
              <a:rPr sz="1100">
                <a:solidFill>
                  <a:srgbClr val="2FDFE5"/>
                </a:solidFill>
              </a:rPr>
              <a:t>▸  </a:t>
            </a:r>
            <a:r>
              <a:rPr sz="1200">
                <a:solidFill>
                  <a:srgbClr val="D8EAFF"/>
                </a:solidFill>
              </a:rPr>
              <a:t>Clasificación por antigüedad, importe, tipología y probabilidad de recuperación</a:t>
            </a:r>
          </a:p>
          <a:p>
            <a:pPr algn="l">
              <a:spcBef>
                <a:spcPts val="400"/>
              </a:spcBef>
            </a:pPr>
            <a:r>
              <a:rPr sz="1100">
                <a:solidFill>
                  <a:srgbClr val="2FDFE5"/>
                </a:solidFill>
              </a:rPr>
              <a:t>▸  </a:t>
            </a:r>
            <a:r>
              <a:rPr sz="1200">
                <a:solidFill>
                  <a:srgbClr val="D8EAFF"/>
                </a:solidFill>
              </a:rPr>
              <a:t>Definición de la estrategia de gestión más adecuada para cada expediente</a:t>
            </a:r>
          </a:p>
          <a:p>
            <a:pPr algn="l">
              <a:spcBef>
                <a:spcPts val="400"/>
              </a:spcBef>
            </a:pPr>
            <a:r>
              <a:rPr sz="1100">
                <a:solidFill>
                  <a:srgbClr val="2FDFE5"/>
                </a:solidFill>
              </a:rPr>
              <a:t>▸  </a:t>
            </a:r>
            <a:r>
              <a:rPr sz="1200">
                <a:solidFill>
                  <a:srgbClr val="D8EAFF"/>
                </a:solidFill>
              </a:rPr>
              <a:t>Valoración de la actividad o sector del cliente para personalizar el enfoque</a:t>
            </a:r>
          </a:p>
        </p:txBody>
      </p:sp>
      <p:pic>
        <p:nvPicPr>
          <p:cNvPr id="23" name="Picture 22" descr="logo_horiz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24567" y="6062197"/>
            <a:ext cx="1965960" cy="631211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" restart="whenNotActive" nodeType="tmRoot">
          <p:childTnLst>
            <p:seq concurrent="1" nextAc="seek">
              <p:cTn id="2" dur="indefin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5" fill="hold">
                            <p:stCondLst>
                              <p:cond delay="0"/>
                            </p:stCondLst>
                            <p:childTnLst>
                              <p:animEffect transition="in" filter="wipe(up)">
                                <p:cBhvr>
                                  <p:cTn id="6" dur="450" fill="hold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160"/>
                            </p:stCondLst>
                            <p:childTnLst>
                              <p:animEffect transition="in" filter="wipe(up)">
                                <p:cBhvr>
                                  <p:cTn id="8" dur="450" fill="hold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Click" delay="0"/>
              </p:prevCondLst>
              <p:nextCondLst>
                <p:cond evt="onNextClick" delay="0"/>
              </p:nextCondLst>
            </p:seq>
          </p:childTnLst>
        </p:cTn>
      </p:par>
    </p:tnLst>
  </p:timing>
  <p:transition dur="550" spd="fast">
    <p:push dir="u"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ontent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5080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63500" cy="6858000"/>
          </a:xfrm>
          <a:prstGeom prst="rect">
            <a:avLst/>
          </a:prstGeom>
          <a:solidFill>
            <a:srgbClr val="13B9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65760"/>
            <a:ext cx="1463040" cy="274320"/>
          </a:xfrm>
          <a:prstGeom prst="rect">
            <a:avLst/>
          </a:prstGeom>
          <a:noFill/>
          <a:ln w="15240">
            <a:solidFill>
              <a:srgbClr val="2F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 lIns="76200" tIns="12700" rIns="76200" bIns="12700">
          <a:bodyPr rtlCol="0" anchor="ctr" wrap="none"/>
          <a:lstStyle/>
          <a:p>
            <a:pPr algn="ctr"/>
            <a:r>
              <a:rPr sz="800" b="1">
                <a:solidFill>
                  <a:srgbClr val="2FDFE5"/>
                </a:solidFill>
              </a:rPr>
              <a:t>FASE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731520"/>
            <a:ext cx="8961120" cy="960120"/>
          </a:xfrm>
          <a:prstGeom prst="rect">
            <a:avLst/>
          </a:prstGeom>
          <a:noFill/>
        </p:spPr>
        <p:txBody lIns="0" tIns="0" rIns="0" bIns="0">
          <a:bodyPr wrap="square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Activación y </a:t>
            </a:r>
            <a:r>
              <a:rPr sz="4000" b="1">
                <a:solidFill>
                  <a:srgbClr val="2FDFE5"/>
                </a:solidFill>
              </a:rPr>
              <a:t>contacto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737360"/>
            <a:ext cx="4389120" cy="3175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810512"/>
            <a:ext cx="9265615" cy="384048"/>
          </a:xfrm>
          <a:prstGeom prst="rect">
            <a:avLst/>
          </a:prstGeom>
          <a:noFill/>
        </p:spPr>
        <p:txBody lIns="0" tIns="0" rIns="0" bIns="0">
          <a:bodyPr wrap="none">
            <a:spAutoFit/>
          </a:bodyPr>
          <a:lstStyle/>
          <a:p>
            <a:pPr algn="l"/>
            <a:r>
              <a:rPr sz="1100" i="1">
                <a:solidFill>
                  <a:srgbClr val="80A8CC"/>
                </a:solidFill>
              </a:rPr>
              <a:t>Multiplicamos los canales de contacto y buscamos siempre la vía amistosa para llegar a un acuerdo.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2267712"/>
            <a:ext cx="5579211" cy="3785616"/>
          </a:xfrm>
          <a:prstGeom prst="rect">
            <a:avLst/>
          </a:prstGeom>
          <a:solidFill>
            <a:srgbClr val="081438"/>
          </a:solidFill>
          <a:ln w="10160">
            <a:solidFill>
              <a:srgbClr val="2F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2267712"/>
            <a:ext cx="5579211" cy="6350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04088" y="2468880"/>
            <a:ext cx="274320" cy="274320"/>
          </a:xfrm>
          <a:prstGeom prst="ellipse">
            <a:avLst/>
          </a:prstGeom>
          <a:solidFill>
            <a:srgbClr val="0A1638"/>
          </a:solidFill>
          <a:ln w="15240">
            <a:solidFill>
              <a:srgbClr val="2F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04088" y="2468880"/>
            <a:ext cx="274320" cy="274320"/>
          </a:xfrm>
          <a:prstGeom prst="rect">
            <a:avLst/>
          </a:prstGeom>
          <a:noFill/>
        </p:spPr>
        <p:txBody lIns="0" tIns="12700" rIns="0" bIns="0">
          <a:bodyPr wrap="none">
            <a:spAutoFit/>
          </a:bodyPr>
          <a:lstStyle/>
          <a:p>
            <a:pPr algn="ctr"/>
            <a:r>
              <a:rPr sz="1100" b="1">
                <a:solidFill>
                  <a:srgbClr val="2FDFE5"/>
                </a:solidFill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" y="2468880"/>
            <a:ext cx="4792827" cy="566928"/>
          </a:xfrm>
          <a:prstGeom prst="rect">
            <a:avLst/>
          </a:prstGeom>
          <a:noFill/>
        </p:spPr>
        <p:txBody lIns="38100" tIns="25400" rIns="38100" bIns="25400"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</a:rPr>
              <a:t>Contactación multicanal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67512" y="2852928"/>
            <a:ext cx="5250027" cy="15240"/>
          </a:xfrm>
          <a:prstGeom prst="rect">
            <a:avLst/>
          </a:prstGeom>
          <a:solidFill>
            <a:srgbClr val="13B9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67512" y="2941828"/>
            <a:ext cx="5250027" cy="3014472"/>
          </a:xfrm>
          <a:prstGeom prst="rect">
            <a:avLst/>
          </a:prstGeom>
          <a:noFill/>
        </p:spPr>
        <p:txBody lIns="50800" tIns="38100" rIns="50800" bIns="38100">
          <a:bodyPr wrap="square">
            <a:spAutoFit/>
          </a:bodyPr>
          <a:lstStyle/>
          <a:p>
            <a:pPr algn="l">
              <a:spcBef>
                <a:spcPts val="400"/>
              </a:spcBef>
            </a:pPr>
            <a:r>
              <a:rPr sz="1100">
                <a:solidFill>
                  <a:srgbClr val="2FDFE5"/>
                </a:solidFill>
              </a:rPr>
              <a:t>▸  </a:t>
            </a:r>
            <a:r>
              <a:rPr sz="1200">
                <a:solidFill>
                  <a:srgbClr val="D8EAFF"/>
                </a:solidFill>
              </a:rPr>
              <a:t>Primeras comunicaciones: teléfono, SMS, email y mensajería</a:t>
            </a:r>
          </a:p>
          <a:p>
            <a:pPr algn="l">
              <a:spcBef>
                <a:spcPts val="400"/>
              </a:spcBef>
            </a:pPr>
            <a:r>
              <a:rPr sz="1100">
                <a:solidFill>
                  <a:srgbClr val="2FDFE5"/>
                </a:solidFill>
              </a:rPr>
              <a:t>▸  </a:t>
            </a:r>
            <a:r>
              <a:rPr sz="1200">
                <a:solidFill>
                  <a:srgbClr val="D8EAFF"/>
                </a:solidFill>
              </a:rPr>
              <a:t>Verificación de datos de contacto y situación del cliente</a:t>
            </a:r>
          </a:p>
          <a:p>
            <a:pPr algn="l">
              <a:spcBef>
                <a:spcPts val="400"/>
              </a:spcBef>
            </a:pPr>
            <a:r>
              <a:rPr sz="1100">
                <a:solidFill>
                  <a:srgbClr val="2FDFE5"/>
                </a:solidFill>
              </a:rPr>
              <a:t>▸  </a:t>
            </a:r>
            <a:r>
              <a:rPr sz="1200">
                <a:solidFill>
                  <a:srgbClr val="D8EAFF"/>
                </a:solidFill>
              </a:rPr>
              <a:t>Búsqueda activa de datos en no contactados o sin localización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83299" y="2267712"/>
            <a:ext cx="5579211" cy="3785616"/>
          </a:xfrm>
          <a:prstGeom prst="rect">
            <a:avLst/>
          </a:prstGeom>
          <a:solidFill>
            <a:srgbClr val="081438"/>
          </a:solidFill>
          <a:ln w="10160">
            <a:solidFill>
              <a:srgbClr val="2F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283299" y="2267712"/>
            <a:ext cx="5579211" cy="6350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484467" y="2468880"/>
            <a:ext cx="274320" cy="274320"/>
          </a:xfrm>
          <a:prstGeom prst="ellipse">
            <a:avLst/>
          </a:prstGeom>
          <a:solidFill>
            <a:srgbClr val="0A1638"/>
          </a:solidFill>
          <a:ln w="15240">
            <a:solidFill>
              <a:srgbClr val="2F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84467" y="2468880"/>
            <a:ext cx="274320" cy="274320"/>
          </a:xfrm>
          <a:prstGeom prst="rect">
            <a:avLst/>
          </a:prstGeom>
          <a:noFill/>
        </p:spPr>
        <p:txBody lIns="0" tIns="12700" rIns="0" bIns="0">
          <a:bodyPr wrap="none">
            <a:spAutoFit/>
          </a:bodyPr>
          <a:lstStyle/>
          <a:p>
            <a:pPr algn="ctr"/>
            <a:r>
              <a:rPr sz="1100" b="1">
                <a:solidFill>
                  <a:srgbClr val="2FDFE5"/>
                </a:solidFill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68515" y="2468880"/>
            <a:ext cx="4792827" cy="566928"/>
          </a:xfrm>
          <a:prstGeom prst="rect">
            <a:avLst/>
          </a:prstGeom>
          <a:noFill/>
        </p:spPr>
        <p:txBody lIns="38100" tIns="25400" rIns="38100" bIns="25400"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</a:rPr>
              <a:t>Acuerdos personalizados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47891" y="2852928"/>
            <a:ext cx="5250027" cy="15240"/>
          </a:xfrm>
          <a:prstGeom prst="rect">
            <a:avLst/>
          </a:prstGeom>
          <a:solidFill>
            <a:srgbClr val="13B9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7891" y="2941828"/>
            <a:ext cx="5250027" cy="3014472"/>
          </a:xfrm>
          <a:prstGeom prst="rect">
            <a:avLst/>
          </a:prstGeom>
          <a:noFill/>
        </p:spPr>
        <p:txBody lIns="50800" tIns="38100" rIns="50800" bIns="38100">
          <a:bodyPr wrap="square">
            <a:spAutoFit/>
          </a:bodyPr>
          <a:lstStyle/>
          <a:p>
            <a:pPr algn="l">
              <a:spcBef>
                <a:spcPts val="400"/>
              </a:spcBef>
            </a:pPr>
            <a:r>
              <a:rPr sz="1100">
                <a:solidFill>
                  <a:srgbClr val="2FDFE5"/>
                </a:solidFill>
              </a:rPr>
              <a:t>▸  </a:t>
            </a:r>
            <a:r>
              <a:rPr sz="1200">
                <a:solidFill>
                  <a:srgbClr val="D8EAFF"/>
                </a:solidFill>
              </a:rPr>
              <a:t>Análisis de la capacidad de pago del deudor</a:t>
            </a:r>
          </a:p>
          <a:p>
            <a:pPr algn="l">
              <a:spcBef>
                <a:spcPts val="400"/>
              </a:spcBef>
            </a:pPr>
            <a:r>
              <a:rPr sz="1100">
                <a:solidFill>
                  <a:srgbClr val="2FDFE5"/>
                </a:solidFill>
              </a:rPr>
              <a:t>▸  </a:t>
            </a:r>
            <a:r>
              <a:rPr sz="1200">
                <a:solidFill>
                  <a:srgbClr val="D8EAFF"/>
                </a:solidFill>
              </a:rPr>
              <a:t>Propuesta de acuerdos personalizados</a:t>
            </a:r>
          </a:p>
          <a:p>
            <a:pPr algn="l">
              <a:spcBef>
                <a:spcPts val="400"/>
              </a:spcBef>
            </a:pPr>
            <a:r>
              <a:rPr sz="1100">
                <a:solidFill>
                  <a:srgbClr val="2FDFE5"/>
                </a:solidFill>
              </a:rPr>
              <a:t>▸  </a:t>
            </a:r>
            <a:r>
              <a:rPr sz="1200">
                <a:solidFill>
                  <a:srgbClr val="D8EAFF"/>
                </a:solidFill>
              </a:rPr>
              <a:t>Formalización y seguimiento de planes de pago</a:t>
            </a:r>
          </a:p>
        </p:txBody>
      </p:sp>
      <p:pic>
        <p:nvPicPr>
          <p:cNvPr id="23" name="Picture 22" descr="logo_horiz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24567" y="6062197"/>
            <a:ext cx="1965960" cy="631211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" restart="whenNotActive" nodeType="tmRoot">
          <p:childTnLst>
            <p:seq concurrent="1" nextAc="seek">
              <p:cTn id="2" dur="indefin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5" fill="hold">
                            <p:stCondLst>
                              <p:cond delay="0"/>
                            </p:stCondLst>
                            <p:childTnLst>
                              <p:animEffect transition="in" filter="wipe(up)">
                                <p:cBhvr>
                                  <p:cTn id="6" dur="450" fill="hold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160"/>
                            </p:stCondLst>
                            <p:childTnLst>
                              <p:animEffect transition="in" filter="wipe(up)">
                                <p:cBhvr>
                                  <p:cTn id="8" dur="450" fill="hold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Click" delay="0"/>
              </p:prevCondLst>
              <p:nextCondLst>
                <p:cond evt="onNextClick" delay="0"/>
              </p:nextCondLst>
            </p:seq>
          </p:childTnLst>
        </p:cTn>
      </p:par>
    </p:tnLst>
  </p:timing>
  <p:transition dur="550" spd="fast">
    <p:push dir="u"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ontent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5080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63500" cy="6858000"/>
          </a:xfrm>
          <a:prstGeom prst="rect">
            <a:avLst/>
          </a:prstGeom>
          <a:solidFill>
            <a:srgbClr val="13B9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65760"/>
            <a:ext cx="1463040" cy="274320"/>
          </a:xfrm>
          <a:prstGeom prst="rect">
            <a:avLst/>
          </a:prstGeom>
          <a:noFill/>
          <a:ln w="15240">
            <a:solidFill>
              <a:srgbClr val="2F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 lIns="76200" tIns="12700" rIns="76200" bIns="12700">
          <a:bodyPr rtlCol="0" anchor="ctr" wrap="none"/>
          <a:lstStyle/>
          <a:p>
            <a:pPr algn="ctr"/>
            <a:r>
              <a:rPr sz="800" b="1">
                <a:solidFill>
                  <a:srgbClr val="2FDFE5"/>
                </a:solidFill>
              </a:rPr>
              <a:t>FASE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731520"/>
            <a:ext cx="8961120" cy="960120"/>
          </a:xfrm>
          <a:prstGeom prst="rect">
            <a:avLst/>
          </a:prstGeom>
          <a:noFill/>
        </p:spPr>
        <p:txBody lIns="0" tIns="0" rIns="0" bIns="0">
          <a:bodyPr wrap="square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Gestión </a:t>
            </a:r>
            <a:r>
              <a:rPr sz="4000" b="1">
                <a:solidFill>
                  <a:srgbClr val="2FDFE5"/>
                </a:solidFill>
              </a:rPr>
              <a:t>continuada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737360"/>
            <a:ext cx="4389120" cy="3175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810512"/>
            <a:ext cx="9265615" cy="384048"/>
          </a:xfrm>
          <a:prstGeom prst="rect">
            <a:avLst/>
          </a:prstGeom>
          <a:noFill/>
        </p:spPr>
        <p:txBody lIns="0" tIns="0" rIns="0" bIns="0">
          <a:bodyPr wrap="none">
            <a:spAutoFit/>
          </a:bodyPr>
          <a:lstStyle/>
          <a:p>
            <a:pPr algn="l"/>
            <a:r>
              <a:rPr sz="1100" i="1">
                <a:solidFill>
                  <a:srgbClr val="80A8CC"/>
                </a:solidFill>
              </a:rPr>
              <a:t>El seguimiento constante y la transparencia en el reporting mantienen cada expediente bajo control.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2267712"/>
            <a:ext cx="5579211" cy="3785616"/>
          </a:xfrm>
          <a:prstGeom prst="rect">
            <a:avLst/>
          </a:prstGeom>
          <a:solidFill>
            <a:srgbClr val="081438"/>
          </a:solidFill>
          <a:ln w="10160">
            <a:solidFill>
              <a:srgbClr val="2F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2267712"/>
            <a:ext cx="5579211" cy="6350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04088" y="2468880"/>
            <a:ext cx="274320" cy="274320"/>
          </a:xfrm>
          <a:prstGeom prst="ellipse">
            <a:avLst/>
          </a:prstGeom>
          <a:solidFill>
            <a:srgbClr val="0A1638"/>
          </a:solidFill>
          <a:ln w="15240">
            <a:solidFill>
              <a:srgbClr val="2F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04088" y="2468880"/>
            <a:ext cx="274320" cy="274320"/>
          </a:xfrm>
          <a:prstGeom prst="rect">
            <a:avLst/>
          </a:prstGeom>
          <a:noFill/>
        </p:spPr>
        <p:txBody lIns="0" tIns="12700" rIns="0" bIns="0">
          <a:bodyPr wrap="none">
            <a:spAutoFit/>
          </a:bodyPr>
          <a:lstStyle/>
          <a:p>
            <a:pPr algn="ctr"/>
            <a:r>
              <a:rPr sz="1100" b="1">
                <a:solidFill>
                  <a:srgbClr val="2FDFE5"/>
                </a:solidFill>
              </a:rPr>
              <a:t>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" y="2468880"/>
            <a:ext cx="4792827" cy="566928"/>
          </a:xfrm>
          <a:prstGeom prst="rect">
            <a:avLst/>
          </a:prstGeom>
          <a:noFill/>
        </p:spPr>
        <p:txBody lIns="38100" tIns="25400" rIns="38100" bIns="25400"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</a:rPr>
              <a:t>Monitorización activa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67512" y="2852928"/>
            <a:ext cx="5250027" cy="15240"/>
          </a:xfrm>
          <a:prstGeom prst="rect">
            <a:avLst/>
          </a:prstGeom>
          <a:solidFill>
            <a:srgbClr val="13B9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67512" y="2941828"/>
            <a:ext cx="5250027" cy="3014472"/>
          </a:xfrm>
          <a:prstGeom prst="rect">
            <a:avLst/>
          </a:prstGeom>
          <a:noFill/>
        </p:spPr>
        <p:txBody lIns="50800" tIns="38100" rIns="50800" bIns="38100">
          <a:bodyPr wrap="square">
            <a:spAutoFit/>
          </a:bodyPr>
          <a:lstStyle/>
          <a:p>
            <a:pPr algn="l">
              <a:spcBef>
                <a:spcPts val="400"/>
              </a:spcBef>
            </a:pPr>
            <a:r>
              <a:rPr sz="1100">
                <a:solidFill>
                  <a:srgbClr val="2FDFE5"/>
                </a:solidFill>
              </a:rPr>
              <a:t>▸  </a:t>
            </a:r>
            <a:r>
              <a:rPr sz="1200">
                <a:solidFill>
                  <a:srgbClr val="D8EAFF"/>
                </a:solidFill>
              </a:rPr>
              <a:t>Monitorización activa de los acuerdos alcanzados</a:t>
            </a:r>
          </a:p>
          <a:p>
            <a:pPr algn="l">
              <a:spcBef>
                <a:spcPts val="400"/>
              </a:spcBef>
            </a:pPr>
            <a:r>
              <a:rPr sz="1100">
                <a:solidFill>
                  <a:srgbClr val="2FDFE5"/>
                </a:solidFill>
              </a:rPr>
              <a:t>▸  </a:t>
            </a:r>
            <a:r>
              <a:rPr sz="1200">
                <a:solidFill>
                  <a:srgbClr val="D8EAFF"/>
                </a:solidFill>
              </a:rPr>
              <a:t>Recordatorios preventivos de vencimiento</a:t>
            </a:r>
          </a:p>
          <a:p>
            <a:pPr algn="l">
              <a:spcBef>
                <a:spcPts val="400"/>
              </a:spcBef>
            </a:pPr>
            <a:r>
              <a:rPr sz="1100">
                <a:solidFill>
                  <a:srgbClr val="2FDFE5"/>
                </a:solidFill>
              </a:rPr>
              <a:t>▸  </a:t>
            </a:r>
            <a:r>
              <a:rPr sz="1200">
                <a:solidFill>
                  <a:srgbClr val="D8EAFF"/>
                </a:solidFill>
              </a:rPr>
              <a:t>Reactivación inmediata ante incidencias o incumplimientos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83299" y="2267712"/>
            <a:ext cx="5579211" cy="3785616"/>
          </a:xfrm>
          <a:prstGeom prst="rect">
            <a:avLst/>
          </a:prstGeom>
          <a:solidFill>
            <a:srgbClr val="081438"/>
          </a:solidFill>
          <a:ln w="10160">
            <a:solidFill>
              <a:srgbClr val="2F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283299" y="2267712"/>
            <a:ext cx="5579211" cy="6350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484467" y="2468880"/>
            <a:ext cx="274320" cy="274320"/>
          </a:xfrm>
          <a:prstGeom prst="ellipse">
            <a:avLst/>
          </a:prstGeom>
          <a:solidFill>
            <a:srgbClr val="0A1638"/>
          </a:solidFill>
          <a:ln w="15240">
            <a:solidFill>
              <a:srgbClr val="2F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84467" y="2468880"/>
            <a:ext cx="274320" cy="274320"/>
          </a:xfrm>
          <a:prstGeom prst="rect">
            <a:avLst/>
          </a:prstGeom>
          <a:noFill/>
        </p:spPr>
        <p:txBody lIns="0" tIns="12700" rIns="0" bIns="0">
          <a:bodyPr wrap="none">
            <a:spAutoFit/>
          </a:bodyPr>
          <a:lstStyle/>
          <a:p>
            <a:pPr algn="ctr"/>
            <a:r>
              <a:rPr sz="1100" b="1">
                <a:solidFill>
                  <a:srgbClr val="2FDFE5"/>
                </a:solidFill>
              </a:rPr>
              <a:t>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68515" y="2468880"/>
            <a:ext cx="4792827" cy="566928"/>
          </a:xfrm>
          <a:prstGeom prst="rect">
            <a:avLst/>
          </a:prstGeom>
          <a:noFill/>
        </p:spPr>
        <p:txBody lIns="38100" tIns="25400" rIns="38100" bIns="25400"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</a:rPr>
              <a:t>Reporting y resultados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47891" y="2852928"/>
            <a:ext cx="5250027" cy="15240"/>
          </a:xfrm>
          <a:prstGeom prst="rect">
            <a:avLst/>
          </a:prstGeom>
          <a:solidFill>
            <a:srgbClr val="13B9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7891" y="2941828"/>
            <a:ext cx="5250027" cy="3014472"/>
          </a:xfrm>
          <a:prstGeom prst="rect">
            <a:avLst/>
          </a:prstGeom>
          <a:noFill/>
        </p:spPr>
        <p:txBody lIns="50800" tIns="38100" rIns="50800" bIns="38100">
          <a:bodyPr wrap="square">
            <a:spAutoFit/>
          </a:bodyPr>
          <a:lstStyle/>
          <a:p>
            <a:pPr algn="l">
              <a:spcBef>
                <a:spcPts val="400"/>
              </a:spcBef>
            </a:pPr>
            <a:r>
              <a:rPr sz="1100">
                <a:solidFill>
                  <a:srgbClr val="2FDFE5"/>
                </a:solidFill>
              </a:rPr>
              <a:t>▸  </a:t>
            </a:r>
            <a:r>
              <a:rPr sz="1200">
                <a:solidFill>
                  <a:srgbClr val="D8EAFF"/>
                </a:solidFill>
              </a:rPr>
              <a:t>Actualización permanente del estado de cada expediente</a:t>
            </a:r>
          </a:p>
          <a:p>
            <a:pPr algn="l">
              <a:spcBef>
                <a:spcPts val="400"/>
              </a:spcBef>
            </a:pPr>
            <a:r>
              <a:rPr sz="1100">
                <a:solidFill>
                  <a:srgbClr val="2FDFE5"/>
                </a:solidFill>
              </a:rPr>
              <a:t>▸  </a:t>
            </a:r>
            <a:r>
              <a:rPr sz="1200">
                <a:solidFill>
                  <a:srgbClr val="D8EAFF"/>
                </a:solidFill>
              </a:rPr>
              <a:t>Informes periódicos de actividad y resultados</a:t>
            </a:r>
          </a:p>
          <a:p>
            <a:pPr algn="l">
              <a:spcBef>
                <a:spcPts val="400"/>
              </a:spcBef>
            </a:pPr>
            <a:r>
              <a:rPr sz="1100">
                <a:solidFill>
                  <a:srgbClr val="2FDFE5"/>
                </a:solidFill>
              </a:rPr>
              <a:t>▸  </a:t>
            </a:r>
            <a:r>
              <a:rPr sz="1200">
                <a:solidFill>
                  <a:srgbClr val="D8EAFF"/>
                </a:solidFill>
              </a:rPr>
              <a:t>KPIs de recuperación y productividad</a:t>
            </a:r>
          </a:p>
        </p:txBody>
      </p:sp>
      <p:pic>
        <p:nvPicPr>
          <p:cNvPr id="23" name="Picture 22" descr="logo_horiz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24567" y="6062197"/>
            <a:ext cx="1965960" cy="631211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" restart="whenNotActive" nodeType="tmRoot">
          <p:childTnLst>
            <p:seq concurrent="1" nextAc="seek">
              <p:cTn id="2" dur="indefin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5" fill="hold">
                            <p:stCondLst>
                              <p:cond delay="0"/>
                            </p:stCondLst>
                            <p:childTnLst>
                              <p:animEffect transition="in" filter="wipe(up)">
                                <p:cBhvr>
                                  <p:cTn id="6" dur="450" fill="hold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160"/>
                            </p:stCondLst>
                            <p:childTnLst>
                              <p:animEffect transition="in" filter="wipe(up)">
                                <p:cBhvr>
                                  <p:cTn id="8" dur="450" fill="hold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Click" delay="0"/>
              </p:prevCondLst>
              <p:nextCondLst>
                <p:cond evt="onNextClick" delay="0"/>
              </p:nextCondLst>
            </p:seq>
          </p:childTnLst>
        </p:cTn>
      </p:par>
    </p:tnLst>
  </p:timing>
  <p:transition dur="550" spd="fast">
    <p:push dir="u"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ontent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5080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63500" cy="6858000"/>
          </a:xfrm>
          <a:prstGeom prst="rect">
            <a:avLst/>
          </a:prstGeom>
          <a:solidFill>
            <a:srgbClr val="13B9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65760"/>
            <a:ext cx="1463040" cy="274320"/>
          </a:xfrm>
          <a:prstGeom prst="rect">
            <a:avLst/>
          </a:prstGeom>
          <a:noFill/>
          <a:ln w="15240">
            <a:solidFill>
              <a:srgbClr val="2F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 lIns="76200" tIns="12700" rIns="76200" bIns="12700">
          <a:bodyPr rtlCol="0" anchor="ctr" wrap="none"/>
          <a:lstStyle/>
          <a:p>
            <a:pPr algn="ctr"/>
            <a:r>
              <a:rPr sz="800" b="1">
                <a:solidFill>
                  <a:srgbClr val="2FDFE5"/>
                </a:solidFill>
              </a:rPr>
              <a:t>FASE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731520"/>
            <a:ext cx="8961120" cy="960120"/>
          </a:xfrm>
          <a:prstGeom prst="rect">
            <a:avLst/>
          </a:prstGeom>
          <a:noFill/>
        </p:spPr>
        <p:txBody lIns="0" tIns="0" rIns="0" bIns="0">
          <a:bodyPr wrap="square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Cierre y </a:t>
            </a:r>
            <a:r>
              <a:rPr sz="4000" b="1">
                <a:solidFill>
                  <a:srgbClr val="2FDFE5"/>
                </a:solidFill>
              </a:rPr>
              <a:t>condiciones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737360"/>
            <a:ext cx="4389120" cy="3175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810512"/>
            <a:ext cx="9265615" cy="384048"/>
          </a:xfrm>
          <a:prstGeom prst="rect">
            <a:avLst/>
          </a:prstGeom>
          <a:noFill/>
        </p:spPr>
        <p:txBody lIns="0" tIns="0" rIns="0" bIns="0">
          <a:bodyPr wrap="none">
            <a:spAutoFit/>
          </a:bodyPr>
          <a:lstStyle/>
          <a:p>
            <a:pPr algn="l"/>
            <a:r>
              <a:rPr sz="1100" i="1">
                <a:solidFill>
                  <a:srgbClr val="80A8CC"/>
                </a:solidFill>
              </a:rPr>
              <a:t>Solo facturamos cuando recuperamos: nuestros incentivos están alineados con los de nuestro cliente.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2267712"/>
            <a:ext cx="5579211" cy="3785616"/>
          </a:xfrm>
          <a:prstGeom prst="rect">
            <a:avLst/>
          </a:prstGeom>
          <a:solidFill>
            <a:srgbClr val="081438"/>
          </a:solidFill>
          <a:ln w="10160">
            <a:solidFill>
              <a:srgbClr val="2F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2267712"/>
            <a:ext cx="5579211" cy="6350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04088" y="2468880"/>
            <a:ext cx="274320" cy="274320"/>
          </a:xfrm>
          <a:prstGeom prst="ellipse">
            <a:avLst/>
          </a:prstGeom>
          <a:solidFill>
            <a:srgbClr val="0A1638"/>
          </a:solidFill>
          <a:ln w="15240">
            <a:solidFill>
              <a:srgbClr val="2F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04088" y="2468880"/>
            <a:ext cx="274320" cy="274320"/>
          </a:xfrm>
          <a:prstGeom prst="rect">
            <a:avLst/>
          </a:prstGeom>
          <a:noFill/>
        </p:spPr>
        <p:txBody lIns="0" tIns="12700" rIns="0" bIns="0">
          <a:bodyPr wrap="none">
            <a:spAutoFit/>
          </a:bodyPr>
          <a:lstStyle/>
          <a:p>
            <a:pPr algn="ctr"/>
            <a:r>
              <a:rPr sz="1100" b="1">
                <a:solidFill>
                  <a:srgbClr val="2FDFE5"/>
                </a:solidFill>
              </a:rPr>
              <a:t>7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" y="2468880"/>
            <a:ext cx="4792827" cy="566928"/>
          </a:xfrm>
          <a:prstGeom prst="rect">
            <a:avLst/>
          </a:prstGeom>
          <a:noFill/>
        </p:spPr>
        <p:txBody lIns="38100" tIns="25400" rIns="38100" bIns="25400"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</a:rPr>
              <a:t>Cierre del expediente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67512" y="2852928"/>
            <a:ext cx="5250027" cy="15240"/>
          </a:xfrm>
          <a:prstGeom prst="rect">
            <a:avLst/>
          </a:prstGeom>
          <a:solidFill>
            <a:srgbClr val="13B9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67512" y="2941828"/>
            <a:ext cx="5250027" cy="3014472"/>
          </a:xfrm>
          <a:prstGeom prst="rect">
            <a:avLst/>
          </a:prstGeom>
          <a:noFill/>
        </p:spPr>
        <p:txBody lIns="50800" tIns="38100" rIns="50800" bIns="38100">
          <a:bodyPr wrap="square">
            <a:spAutoFit/>
          </a:bodyPr>
          <a:lstStyle/>
          <a:p>
            <a:pPr algn="l">
              <a:spcBef>
                <a:spcPts val="400"/>
              </a:spcBef>
            </a:pPr>
            <a:r>
              <a:rPr sz="1100">
                <a:solidFill>
                  <a:srgbClr val="2FDFE5"/>
                </a:solidFill>
              </a:rPr>
              <a:t>▸  </a:t>
            </a:r>
            <a:r>
              <a:rPr sz="1200">
                <a:solidFill>
                  <a:srgbClr val="D8EAFF"/>
                </a:solidFill>
              </a:rPr>
              <a:t>Expedientes recuperados o finalizados</a:t>
            </a:r>
          </a:p>
          <a:p>
            <a:pPr algn="l">
              <a:spcBef>
                <a:spcPts val="400"/>
              </a:spcBef>
            </a:pPr>
            <a:r>
              <a:rPr sz="1100">
                <a:solidFill>
                  <a:srgbClr val="2FDFE5"/>
                </a:solidFill>
              </a:rPr>
              <a:t>▸  </a:t>
            </a:r>
            <a:r>
              <a:rPr sz="1200">
                <a:solidFill>
                  <a:srgbClr val="D8EAFF"/>
                </a:solidFill>
              </a:rPr>
              <a:t>Entrega de resultados y documentación</a:t>
            </a:r>
          </a:p>
          <a:p>
            <a:pPr algn="l">
              <a:spcBef>
                <a:spcPts val="400"/>
              </a:spcBef>
            </a:pPr>
            <a:r>
              <a:rPr sz="1100">
                <a:solidFill>
                  <a:srgbClr val="2FDFE5"/>
                </a:solidFill>
              </a:rPr>
              <a:t>▸  </a:t>
            </a:r>
            <a:r>
              <a:rPr sz="1200">
                <a:solidFill>
                  <a:srgbClr val="D8EAFF"/>
                </a:solidFill>
              </a:rPr>
              <a:t>Análisis de rendimiento y propuestas de mejora continua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83299" y="2267712"/>
            <a:ext cx="5579211" cy="3785616"/>
          </a:xfrm>
          <a:prstGeom prst="rect">
            <a:avLst/>
          </a:prstGeom>
          <a:solidFill>
            <a:srgbClr val="081438"/>
          </a:solidFill>
          <a:ln w="10160">
            <a:solidFill>
              <a:srgbClr val="2F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283299" y="2267712"/>
            <a:ext cx="5579211" cy="6350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484467" y="2468880"/>
            <a:ext cx="274320" cy="274320"/>
          </a:xfrm>
          <a:prstGeom prst="ellipse">
            <a:avLst/>
          </a:prstGeom>
          <a:solidFill>
            <a:srgbClr val="0A1638"/>
          </a:solidFill>
          <a:ln w="15240">
            <a:solidFill>
              <a:srgbClr val="2F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84467" y="2468880"/>
            <a:ext cx="274320" cy="274320"/>
          </a:xfrm>
          <a:prstGeom prst="rect">
            <a:avLst/>
          </a:prstGeom>
          <a:noFill/>
        </p:spPr>
        <p:txBody lIns="0" tIns="12700" rIns="0" bIns="0">
          <a:bodyPr wrap="none">
            <a:spAutoFit/>
          </a:bodyPr>
          <a:lstStyle/>
          <a:p>
            <a:pPr algn="ctr"/>
            <a:r>
              <a:rPr sz="1100" b="1">
                <a:solidFill>
                  <a:srgbClr val="2FDFE5"/>
                </a:solidFill>
              </a:rPr>
              <a:t>8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68515" y="2468880"/>
            <a:ext cx="4792827" cy="566928"/>
          </a:xfrm>
          <a:prstGeom prst="rect">
            <a:avLst/>
          </a:prstGeom>
          <a:noFill/>
        </p:spPr>
        <p:txBody lIns="38100" tIns="25400" rIns="38100" bIns="25400"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</a:rPr>
              <a:t>Honorarios y condiciones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47891" y="2852928"/>
            <a:ext cx="5250027" cy="15240"/>
          </a:xfrm>
          <a:prstGeom prst="rect">
            <a:avLst/>
          </a:prstGeom>
          <a:solidFill>
            <a:srgbClr val="13B9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7891" y="2941828"/>
            <a:ext cx="5250027" cy="3014472"/>
          </a:xfrm>
          <a:prstGeom prst="rect">
            <a:avLst/>
          </a:prstGeom>
          <a:noFill/>
        </p:spPr>
        <p:txBody lIns="50800" tIns="38100" rIns="50800" bIns="38100">
          <a:bodyPr wrap="square">
            <a:spAutoFit/>
          </a:bodyPr>
          <a:lstStyle/>
          <a:p>
            <a:pPr algn="l">
              <a:spcBef>
                <a:spcPts val="400"/>
              </a:spcBef>
            </a:pPr>
            <a:r>
              <a:rPr sz="1100">
                <a:solidFill>
                  <a:srgbClr val="2FDFE5"/>
                </a:solidFill>
              </a:rPr>
              <a:t>▸  </a:t>
            </a:r>
            <a:r>
              <a:rPr sz="1200">
                <a:solidFill>
                  <a:srgbClr val="D8EAFF"/>
                </a:solidFill>
              </a:rPr>
              <a:t>Servicio de recobro amistoso a éxito</a:t>
            </a:r>
          </a:p>
          <a:p>
            <a:pPr algn="l">
              <a:spcBef>
                <a:spcPts val="400"/>
              </a:spcBef>
            </a:pPr>
            <a:r>
              <a:rPr sz="1100">
                <a:solidFill>
                  <a:srgbClr val="2FDFE5"/>
                </a:solidFill>
              </a:rPr>
              <a:t>▸  </a:t>
            </a:r>
            <a:r>
              <a:rPr sz="1200">
                <a:solidFill>
                  <a:srgbClr val="D8EAFF"/>
                </a:solidFill>
              </a:rPr>
              <a:t>Retribución escalada según tipología de deuda</a:t>
            </a:r>
          </a:p>
          <a:p>
            <a:pPr algn="l">
              <a:spcBef>
                <a:spcPts val="400"/>
              </a:spcBef>
            </a:pPr>
            <a:r>
              <a:rPr sz="1100">
                <a:solidFill>
                  <a:srgbClr val="2FDFE5"/>
                </a:solidFill>
              </a:rPr>
              <a:t>▸  </a:t>
            </a:r>
            <a:r>
              <a:rPr sz="1200">
                <a:solidFill>
                  <a:srgbClr val="D8EAFF"/>
                </a:solidFill>
              </a:rPr>
              <a:t>Sin costes fijos: solo pagamos si recuperamos</a:t>
            </a:r>
          </a:p>
        </p:txBody>
      </p:sp>
      <p:pic>
        <p:nvPicPr>
          <p:cNvPr id="23" name="Picture 22" descr="logo_horiz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24567" y="6062197"/>
            <a:ext cx="1965960" cy="631211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" restart="whenNotActive" nodeType="tmRoot">
          <p:childTnLst>
            <p:seq concurrent="1" nextAc="seek">
              <p:cTn id="2" dur="indefin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5" fill="hold">
                            <p:stCondLst>
                              <p:cond delay="0"/>
                            </p:stCondLst>
                            <p:childTnLst>
                              <p:animEffect transition="in" filter="wipe(up)">
                                <p:cBhvr>
                                  <p:cTn id="6" dur="450" fill="hold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160"/>
                            </p:stCondLst>
                            <p:childTnLst>
                              <p:animEffect transition="in" filter="wipe(up)">
                                <p:cBhvr>
                                  <p:cTn id="8" dur="450" fill="hold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Click" delay="0"/>
              </p:prevCondLst>
              <p:nextCondLst>
                <p:cond evt="onNextClick" delay="0"/>
              </p:nextCondLst>
            </p:seq>
          </p:childTnLst>
        </p:cTn>
      </p:par>
    </p:tnLst>
  </p:timing>
  <p:transition dur="550" spd="fast">
    <p:push dir="u"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ontent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5080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63500" cy="6858000"/>
          </a:xfrm>
          <a:prstGeom prst="rect">
            <a:avLst/>
          </a:prstGeom>
          <a:solidFill>
            <a:srgbClr val="13B9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65760"/>
            <a:ext cx="1463040" cy="274320"/>
          </a:xfrm>
          <a:prstGeom prst="rect">
            <a:avLst/>
          </a:prstGeom>
          <a:noFill/>
          <a:ln w="15240">
            <a:solidFill>
              <a:srgbClr val="2F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 lIns="76200" tIns="12700" rIns="76200" bIns="12700">
          <a:bodyPr rtlCol="0" anchor="ctr" wrap="none"/>
          <a:lstStyle/>
          <a:p>
            <a:pPr algn="ctr"/>
            <a:r>
              <a:rPr sz="800" b="1">
                <a:solidFill>
                  <a:srgbClr val="2FDFE5"/>
                </a:solidFill>
              </a:rPr>
              <a:t>FASE 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731520"/>
            <a:ext cx="8961120" cy="960120"/>
          </a:xfrm>
          <a:prstGeom prst="rect">
            <a:avLst/>
          </a:prstGeom>
          <a:noFill/>
        </p:spPr>
        <p:txBody lIns="0" tIns="0" rIns="0" bIns="0">
          <a:bodyPr wrap="square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Servicios </a:t>
            </a:r>
            <a:r>
              <a:rPr sz="4000" b="1">
                <a:solidFill>
                  <a:srgbClr val="2FDFE5"/>
                </a:solidFill>
              </a:rPr>
              <a:t>adicionales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737360"/>
            <a:ext cx="4389120" cy="3175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1920240"/>
            <a:ext cx="5579211" cy="1993392"/>
          </a:xfrm>
          <a:prstGeom prst="rect">
            <a:avLst/>
          </a:prstGeom>
          <a:solidFill>
            <a:srgbClr val="081438"/>
          </a:solidFill>
          <a:ln w="10160">
            <a:solidFill>
              <a:srgbClr val="2F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02920" y="1920240"/>
            <a:ext cx="5579211" cy="6350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685800" y="2084832"/>
            <a:ext cx="256032" cy="256032"/>
          </a:xfrm>
          <a:prstGeom prst="ellipse">
            <a:avLst/>
          </a:prstGeom>
          <a:solidFill>
            <a:srgbClr val="0A1638"/>
          </a:solidFill>
          <a:ln w="15240">
            <a:solidFill>
              <a:srgbClr val="2F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084832"/>
            <a:ext cx="256032" cy="256032"/>
          </a:xfrm>
          <a:prstGeom prst="rect">
            <a:avLst/>
          </a:prstGeom>
          <a:noFill/>
        </p:spPr>
        <p:txBody lIns="0" tIns="12700" rIns="0" bIns="0">
          <a:bodyPr wrap="none">
            <a:spAutoFit/>
          </a:bodyPr>
          <a:lstStyle/>
          <a:p>
            <a:pPr algn="ctr"/>
            <a:r>
              <a:rPr sz="1100" b="1">
                <a:solidFill>
                  <a:srgbClr val="2FDFE5"/>
                </a:solidFill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2084832"/>
            <a:ext cx="4865979" cy="512064"/>
          </a:xfrm>
          <a:prstGeom prst="rect">
            <a:avLst/>
          </a:prstGeom>
          <a:noFill/>
        </p:spPr>
        <p:txBody lIns="38100" tIns="25400" rIns="38100" bIns="25400"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</a:rPr>
              <a:t>Vía monitoria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9224" y="2450592"/>
            <a:ext cx="5286603" cy="12700"/>
          </a:xfrm>
          <a:prstGeom prst="rect">
            <a:avLst/>
          </a:prstGeom>
          <a:solidFill>
            <a:srgbClr val="13B9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9224" y="2526792"/>
            <a:ext cx="5286603" cy="1308100"/>
          </a:xfrm>
          <a:prstGeom prst="rect">
            <a:avLst/>
          </a:prstGeom>
          <a:noFill/>
        </p:spPr>
        <p:txBody lIns="50800" tIns="25400" rIns="50800" bIns="25400">
          <a:bodyPr wrap="square">
            <a:spAutoFit/>
          </a:bodyPr>
          <a:lstStyle/>
          <a:p>
            <a:pPr algn="l"/>
            <a:r>
              <a:rPr sz="1150">
                <a:solidFill>
                  <a:srgbClr val="D8EAFF"/>
                </a:solidFill>
              </a:rPr>
              <a:t>Tramitación de procedimientos monitorios para reclamar la deuda por vía judicial cuando la vía amistosa no es suficiente.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83299" y="1920240"/>
            <a:ext cx="5579211" cy="1993392"/>
          </a:xfrm>
          <a:prstGeom prst="rect">
            <a:avLst/>
          </a:prstGeom>
          <a:solidFill>
            <a:srgbClr val="081438"/>
          </a:solidFill>
          <a:ln w="10160">
            <a:solidFill>
              <a:srgbClr val="2F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83299" y="1920240"/>
            <a:ext cx="5579211" cy="6350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466179" y="2084832"/>
            <a:ext cx="256032" cy="256032"/>
          </a:xfrm>
          <a:prstGeom prst="ellipse">
            <a:avLst/>
          </a:prstGeom>
          <a:solidFill>
            <a:srgbClr val="0A1638"/>
          </a:solidFill>
          <a:ln w="15240">
            <a:solidFill>
              <a:srgbClr val="2F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66179" y="2084832"/>
            <a:ext cx="256032" cy="256032"/>
          </a:xfrm>
          <a:prstGeom prst="rect">
            <a:avLst/>
          </a:prstGeom>
          <a:noFill/>
        </p:spPr>
        <p:txBody lIns="0" tIns="12700" rIns="0" bIns="0">
          <a:bodyPr wrap="none">
            <a:spAutoFit/>
          </a:bodyPr>
          <a:lstStyle/>
          <a:p>
            <a:pPr algn="ctr"/>
            <a:r>
              <a:rPr sz="1100" b="1">
                <a:solidFill>
                  <a:srgbClr val="2FDFE5"/>
                </a:solidFill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31939" y="2084832"/>
            <a:ext cx="4865979" cy="512064"/>
          </a:xfrm>
          <a:prstGeom prst="rect">
            <a:avLst/>
          </a:prstGeom>
          <a:noFill/>
        </p:spPr>
        <p:txBody lIns="38100" tIns="25400" rIns="38100" bIns="25400"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</a:rPr>
              <a:t>Acción disuasoria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29603" y="2450592"/>
            <a:ext cx="5286603" cy="12700"/>
          </a:xfrm>
          <a:prstGeom prst="rect">
            <a:avLst/>
          </a:prstGeom>
          <a:solidFill>
            <a:srgbClr val="13B9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29603" y="2526792"/>
            <a:ext cx="5286603" cy="1308100"/>
          </a:xfrm>
          <a:prstGeom prst="rect">
            <a:avLst/>
          </a:prstGeom>
          <a:noFill/>
        </p:spPr>
        <p:txBody lIns="50800" tIns="25400" rIns="50800" bIns="25400">
          <a:bodyPr wrap="square">
            <a:spAutoFit/>
          </a:bodyPr>
          <a:lstStyle/>
          <a:p>
            <a:pPr algn="l"/>
            <a:r>
              <a:rPr sz="1150">
                <a:solidFill>
                  <a:srgbClr val="D8EAFF"/>
                </a:solidFill>
              </a:rPr>
              <a:t>Identificación visible de la gestión por parte de Sendacredit como elemento disuasorio frente al impago.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2920" y="4059936"/>
            <a:ext cx="5579211" cy="1993392"/>
          </a:xfrm>
          <a:prstGeom prst="rect">
            <a:avLst/>
          </a:prstGeom>
          <a:solidFill>
            <a:srgbClr val="081438"/>
          </a:solidFill>
          <a:ln w="10160">
            <a:solidFill>
              <a:srgbClr val="2F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02920" y="4059936"/>
            <a:ext cx="5579211" cy="6350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85800" y="4224528"/>
            <a:ext cx="256032" cy="256032"/>
          </a:xfrm>
          <a:prstGeom prst="ellipse">
            <a:avLst/>
          </a:prstGeom>
          <a:solidFill>
            <a:srgbClr val="0A1638"/>
          </a:solidFill>
          <a:ln w="15240">
            <a:solidFill>
              <a:srgbClr val="2F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5800" y="4224528"/>
            <a:ext cx="256032" cy="256032"/>
          </a:xfrm>
          <a:prstGeom prst="rect">
            <a:avLst/>
          </a:prstGeom>
          <a:noFill/>
        </p:spPr>
        <p:txBody lIns="0" tIns="12700" rIns="0" bIns="0">
          <a:bodyPr wrap="none">
            <a:spAutoFit/>
          </a:bodyPr>
          <a:lstStyle/>
          <a:p>
            <a:pPr algn="ctr"/>
            <a:r>
              <a:rPr sz="1100" b="1">
                <a:solidFill>
                  <a:srgbClr val="2FDFE5"/>
                </a:solidFill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51560" y="4224528"/>
            <a:ext cx="4865979" cy="512064"/>
          </a:xfrm>
          <a:prstGeom prst="rect">
            <a:avLst/>
          </a:prstGeom>
          <a:noFill/>
        </p:spPr>
        <p:txBody lIns="38100" tIns="25400" rIns="38100" bIns="25400"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</a:rPr>
              <a:t>Análisis de solvencia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49224" y="4590288"/>
            <a:ext cx="5286603" cy="12700"/>
          </a:xfrm>
          <a:prstGeom prst="rect">
            <a:avLst/>
          </a:prstGeom>
          <a:solidFill>
            <a:srgbClr val="13B9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9224" y="4666488"/>
            <a:ext cx="5286603" cy="1308100"/>
          </a:xfrm>
          <a:prstGeom prst="rect">
            <a:avLst/>
          </a:prstGeom>
          <a:noFill/>
        </p:spPr>
        <p:txBody lIns="50800" tIns="25400" rIns="50800" bIns="25400">
          <a:bodyPr wrap="square">
            <a:spAutoFit/>
          </a:bodyPr>
          <a:lstStyle/>
          <a:p>
            <a:pPr algn="l"/>
            <a:r>
              <a:rPr sz="1150">
                <a:solidFill>
                  <a:srgbClr val="D8EAFF"/>
                </a:solidFill>
              </a:rPr>
              <a:t>Estudio de la capacidad económica real del deudor para orientar mejor la estrategia de recobro.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283299" y="4059936"/>
            <a:ext cx="5579211" cy="1993392"/>
          </a:xfrm>
          <a:prstGeom prst="rect">
            <a:avLst/>
          </a:prstGeom>
          <a:solidFill>
            <a:srgbClr val="081438"/>
          </a:solidFill>
          <a:ln w="10160">
            <a:solidFill>
              <a:srgbClr val="2F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283299" y="4059936"/>
            <a:ext cx="5579211" cy="6350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6466179" y="4224528"/>
            <a:ext cx="256032" cy="256032"/>
          </a:xfrm>
          <a:prstGeom prst="ellipse">
            <a:avLst/>
          </a:prstGeom>
          <a:solidFill>
            <a:srgbClr val="0A1638"/>
          </a:solidFill>
          <a:ln w="15240">
            <a:solidFill>
              <a:srgbClr val="2F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66179" y="4224528"/>
            <a:ext cx="256032" cy="256032"/>
          </a:xfrm>
          <a:prstGeom prst="rect">
            <a:avLst/>
          </a:prstGeom>
          <a:noFill/>
        </p:spPr>
        <p:txBody lIns="0" tIns="12700" rIns="0" bIns="0">
          <a:bodyPr wrap="none">
            <a:spAutoFit/>
          </a:bodyPr>
          <a:lstStyle/>
          <a:p>
            <a:pPr algn="ctr"/>
            <a:r>
              <a:rPr sz="1100" b="1">
                <a:solidFill>
                  <a:srgbClr val="2FDFE5"/>
                </a:solidFill>
              </a:rPr>
              <a:t>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831939" y="4224528"/>
            <a:ext cx="4865979" cy="512064"/>
          </a:xfrm>
          <a:prstGeom prst="rect">
            <a:avLst/>
          </a:prstGeom>
          <a:noFill/>
        </p:spPr>
        <p:txBody lIns="38100" tIns="25400" rIns="38100" bIns="25400"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</a:rPr>
              <a:t>Ficheros de morosidad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429603" y="4590288"/>
            <a:ext cx="5286603" cy="12700"/>
          </a:xfrm>
          <a:prstGeom prst="rect">
            <a:avLst/>
          </a:prstGeom>
          <a:solidFill>
            <a:srgbClr val="13B9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29603" y="4666488"/>
            <a:ext cx="5286603" cy="1308100"/>
          </a:xfrm>
          <a:prstGeom prst="rect">
            <a:avLst/>
          </a:prstGeom>
          <a:noFill/>
        </p:spPr>
        <p:txBody lIns="50800" tIns="25400" rIns="50800" bIns="25400">
          <a:bodyPr wrap="square">
            <a:spAutoFit/>
          </a:bodyPr>
          <a:lstStyle/>
          <a:p>
            <a:pPr algn="l"/>
            <a:r>
              <a:rPr sz="1150">
                <a:solidFill>
                  <a:srgbClr val="D8EAFF"/>
                </a:solidFill>
              </a:rPr>
              <a:t>Registro del deudor en ficheros de morosidad como medida adicional de presión y prevención.</a:t>
            </a:r>
          </a:p>
        </p:txBody>
      </p:sp>
      <p:pic>
        <p:nvPicPr>
          <p:cNvPr id="36" name="Picture 35" descr="logo_horiz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24567" y="6062197"/>
            <a:ext cx="1965960" cy="631211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" restart="whenNotActive" nodeType="tmRoot">
          <p:childTnLst>
            <p:seq concurrent="1" nextAc="seek">
              <p:cTn id="2" dur="indefin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5" fill="hold">
                            <p:stCondLst>
                              <p:cond delay="0"/>
                            </p:stCondLst>
                            <p:childTnLst>
                              <p:animEffect transition="in" filter="wipe(up)">
                                <p:cBhvr>
                                  <p:cTn id="6" dur="450" fill="hold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160"/>
                            </p:stCondLst>
                            <p:childTnLst>
                              <p:animEffect transition="in" filter="wipe(up)">
                                <p:cBhvr>
                                  <p:cTn id="8" dur="450" fill="hold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320"/>
                            </p:stCondLst>
                            <p:childTnLst>
                              <p:animEffect transition="in" filter="wipe(up)">
                                <p:cBhvr>
                                  <p:cTn id="10" dur="450" fill="hold"/>
                                  <p:tgtEl>
                                    <p:spTgt spid="2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480"/>
                            </p:stCondLst>
                            <p:childTnLst>
                              <p:animEffect transition="in" filter="wipe(up)">
                                <p:cBhvr>
                                  <p:cTn id="12" dur="450" fill="hold"/>
                                  <p:tgtEl>
                                    <p:spTgt spid="2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Click" delay="0"/>
              </p:prevCondLst>
              <p:nextCondLst>
                <p:cond evt="onNextClick" delay="0"/>
              </p:nextCondLst>
            </p:seq>
          </p:childTnLst>
        </p:cTn>
      </p:par>
    </p:tnLst>
  </p:timing>
  <p:transition dur="550" spd="fast">
    <p:push dir="u"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over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building_cropped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71055" y="0"/>
            <a:ext cx="5120640" cy="68580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7071055" y="0"/>
            <a:ext cx="5120640" cy="6858000"/>
          </a:xfrm>
          <a:prstGeom prst="rect">
            <a:avLst/>
          </a:prstGeom>
          <a:solidFill>
            <a:srgbClr val="060E24">
              <a:alpha val="2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032955" y="0"/>
            <a:ext cx="38100" cy="685800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0"/>
            <a:ext cx="63500" cy="6858000"/>
          </a:xfrm>
          <a:prstGeom prst="rect">
            <a:avLst/>
          </a:prstGeom>
          <a:solidFill>
            <a:srgbClr val="13B9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12191695" cy="5080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logo_roun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2920" y="310896"/>
            <a:ext cx="1024128" cy="593994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502920" y="1417320"/>
            <a:ext cx="1554480" cy="274320"/>
          </a:xfrm>
          <a:prstGeom prst="rect">
            <a:avLst/>
          </a:prstGeom>
          <a:noFill/>
          <a:ln w="15240">
            <a:solidFill>
              <a:srgbClr val="2F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 lIns="76200" tIns="12700" rIns="76200" bIns="12700">
          <a:bodyPr rtlCol="0" anchor="ctr" wrap="none"/>
          <a:lstStyle/>
          <a:p>
            <a:pPr algn="ctr"/>
            <a:r>
              <a:rPr sz="800" b="1">
                <a:solidFill>
                  <a:srgbClr val="2FDFE5"/>
                </a:solidFill>
              </a:rPr>
              <a:t>CONTACTO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801368"/>
            <a:ext cx="5852160" cy="1051560"/>
          </a:xfrm>
          <a:prstGeom prst="rect">
            <a:avLst/>
          </a:prstGeom>
          <a:noFill/>
        </p:spPr>
        <p:txBody lIns="0" tIns="0" rIns="0" bIns="0">
          <a:bodyPr wrap="square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</a:rPr>
              <a:t>Hablemos de tu </a:t>
            </a:r>
          </a:p>
          <a:p>
            <a:pPr algn="l"/>
            <a:r>
              <a:rPr sz="3000" b="1">
                <a:solidFill>
                  <a:srgbClr val="2FDFE5"/>
                </a:solidFill>
              </a:rPr>
              <a:t>cartera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2834640"/>
            <a:ext cx="3474720" cy="3175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2971800"/>
            <a:ext cx="5669280" cy="402336"/>
          </a:xfrm>
          <a:prstGeom prst="rect">
            <a:avLst/>
          </a:prstGeom>
          <a:noFill/>
        </p:spPr>
        <p:txBody lIns="0" tIns="0" rIns="0" bIns="0">
          <a:bodyPr wrap="none">
            <a:spAutoFit/>
          </a:bodyPr>
          <a:lstStyle/>
          <a:p>
            <a:pPr algn="l"/>
            <a:r>
              <a:rPr sz="1100" i="1">
                <a:solidFill>
                  <a:srgbClr val="C0E8FF"/>
                </a:solidFill>
              </a:rPr>
              <a:t>Nuestros equipos están disponibles para comenzar de inmediato.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3401568"/>
            <a:ext cx="2157984" cy="1920240"/>
          </a:xfrm>
          <a:prstGeom prst="rect">
            <a:avLst/>
          </a:prstGeom>
          <a:solidFill>
            <a:srgbClr val="081438"/>
          </a:solidFill>
          <a:ln w="10160">
            <a:solidFill>
              <a:srgbClr val="2F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02920" y="3401568"/>
            <a:ext cx="2157984" cy="6350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0936" y="3557016"/>
            <a:ext cx="1901952" cy="310896"/>
          </a:xfrm>
          <a:prstGeom prst="rect">
            <a:avLst/>
          </a:prstGeom>
          <a:noFill/>
        </p:spPr>
        <p:txBody lIns="38100" tIns="25400" rIns="38100" bIns="25400">
          <a:bodyPr wrap="none">
            <a:spAutoFit/>
          </a:bodyPr>
          <a:lstStyle/>
          <a:p>
            <a:pPr algn="l"/>
            <a:r>
              <a:rPr sz="1300" b="1">
                <a:solidFill>
                  <a:srgbClr val="2FDFE5"/>
                </a:solidFill>
              </a:rPr>
              <a:t>MADRID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30936" y="3904488"/>
            <a:ext cx="1901952" cy="12700"/>
          </a:xfrm>
          <a:prstGeom prst="rect">
            <a:avLst/>
          </a:prstGeom>
          <a:solidFill>
            <a:srgbClr val="13B9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0936" y="3980688"/>
            <a:ext cx="1901952" cy="1234440"/>
          </a:xfrm>
          <a:prstGeom prst="rect">
            <a:avLst/>
          </a:prstGeom>
          <a:noFill/>
        </p:spPr>
        <p:txBody lIns="38100" tIns="25400" rIns="38100" bIns="25400">
          <a:bodyPr wrap="square">
            <a:spAutoFit/>
          </a:bodyPr>
          <a:lstStyle/>
          <a:p>
            <a:pPr algn="l">
              <a:spcBef>
                <a:spcPts val="300"/>
              </a:spcBef>
            </a:pPr>
            <a:r>
              <a:rPr sz="1000">
                <a:solidFill>
                  <a:srgbClr val="D8EAFF"/>
                </a:solidFill>
              </a:rPr>
              <a:t>Gran Vía 28, 4ª planta</a:t>
            </a:r>
          </a:p>
          <a:p>
            <a:pPr algn="l">
              <a:spcBef>
                <a:spcPts val="300"/>
              </a:spcBef>
            </a:pPr>
            <a:r>
              <a:rPr sz="1000">
                <a:solidFill>
                  <a:srgbClr val="2FDFE5"/>
                </a:solidFill>
              </a:rPr>
              <a:t>+34 910 000 001</a:t>
            </a:r>
          </a:p>
          <a:p>
            <a:pPr algn="l">
              <a:spcBef>
                <a:spcPts val="300"/>
              </a:spcBef>
            </a:pPr>
            <a:r>
              <a:rPr sz="1000">
                <a:solidFill>
                  <a:srgbClr val="80A8CC"/>
                </a:solidFill>
              </a:rPr>
              <a:t>madrid@sendacredit.com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825496" y="3401568"/>
            <a:ext cx="2157984" cy="1920240"/>
          </a:xfrm>
          <a:prstGeom prst="rect">
            <a:avLst/>
          </a:prstGeom>
          <a:solidFill>
            <a:srgbClr val="081438"/>
          </a:solidFill>
          <a:ln w="10160">
            <a:solidFill>
              <a:srgbClr val="2F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825496" y="3401568"/>
            <a:ext cx="2157984" cy="6350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953512" y="3557016"/>
            <a:ext cx="1901952" cy="310896"/>
          </a:xfrm>
          <a:prstGeom prst="rect">
            <a:avLst/>
          </a:prstGeom>
          <a:noFill/>
        </p:spPr>
        <p:txBody lIns="38100" tIns="25400" rIns="38100" bIns="25400">
          <a:bodyPr wrap="none">
            <a:spAutoFit/>
          </a:bodyPr>
          <a:lstStyle/>
          <a:p>
            <a:pPr algn="l"/>
            <a:r>
              <a:rPr sz="1300" b="1">
                <a:solidFill>
                  <a:srgbClr val="2FDFE5"/>
                </a:solidFill>
              </a:rPr>
              <a:t>BARCELONA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953512" y="3904488"/>
            <a:ext cx="1901952" cy="12700"/>
          </a:xfrm>
          <a:prstGeom prst="rect">
            <a:avLst/>
          </a:prstGeom>
          <a:solidFill>
            <a:srgbClr val="13B9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953512" y="3980688"/>
            <a:ext cx="1901952" cy="1234440"/>
          </a:xfrm>
          <a:prstGeom prst="rect">
            <a:avLst/>
          </a:prstGeom>
          <a:noFill/>
        </p:spPr>
        <p:txBody lIns="38100" tIns="25400" rIns="38100" bIns="25400">
          <a:bodyPr wrap="square">
            <a:spAutoFit/>
          </a:bodyPr>
          <a:lstStyle/>
          <a:p>
            <a:pPr algn="l">
              <a:spcBef>
                <a:spcPts val="300"/>
              </a:spcBef>
            </a:pPr>
            <a:r>
              <a:rPr sz="1000">
                <a:solidFill>
                  <a:srgbClr val="D8EAFF"/>
                </a:solidFill>
              </a:rPr>
              <a:t>Diagonal 211, 3ª planta</a:t>
            </a:r>
          </a:p>
          <a:p>
            <a:pPr algn="l">
              <a:spcBef>
                <a:spcPts val="300"/>
              </a:spcBef>
            </a:pPr>
            <a:r>
              <a:rPr sz="1000">
                <a:solidFill>
                  <a:srgbClr val="2FDFE5"/>
                </a:solidFill>
              </a:rPr>
              <a:t>+34 932 000 002</a:t>
            </a:r>
          </a:p>
          <a:p>
            <a:pPr algn="l">
              <a:spcBef>
                <a:spcPts val="300"/>
              </a:spcBef>
            </a:pPr>
            <a:r>
              <a:rPr sz="1000">
                <a:solidFill>
                  <a:srgbClr val="80A8CC"/>
                </a:solidFill>
              </a:rPr>
              <a:t>barcelona@sendacredit.com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148072" y="3401568"/>
            <a:ext cx="2157984" cy="1920240"/>
          </a:xfrm>
          <a:prstGeom prst="rect">
            <a:avLst/>
          </a:prstGeom>
          <a:solidFill>
            <a:srgbClr val="081438"/>
          </a:solidFill>
          <a:ln w="10160">
            <a:solidFill>
              <a:srgbClr val="2F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148072" y="3401568"/>
            <a:ext cx="2157984" cy="6350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276088" y="3557016"/>
            <a:ext cx="1901952" cy="310896"/>
          </a:xfrm>
          <a:prstGeom prst="rect">
            <a:avLst/>
          </a:prstGeom>
          <a:noFill/>
        </p:spPr>
        <p:txBody lIns="38100" tIns="25400" rIns="38100" bIns="25400">
          <a:bodyPr wrap="none">
            <a:spAutoFit/>
          </a:bodyPr>
          <a:lstStyle/>
          <a:p>
            <a:pPr algn="l"/>
            <a:r>
              <a:rPr sz="1300" b="1">
                <a:solidFill>
                  <a:srgbClr val="2FDFE5"/>
                </a:solidFill>
              </a:rPr>
              <a:t>MÁLAGA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276088" y="3904488"/>
            <a:ext cx="1901952" cy="12700"/>
          </a:xfrm>
          <a:prstGeom prst="rect">
            <a:avLst/>
          </a:prstGeom>
          <a:solidFill>
            <a:srgbClr val="13B9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276088" y="3980688"/>
            <a:ext cx="1901952" cy="1234440"/>
          </a:xfrm>
          <a:prstGeom prst="rect">
            <a:avLst/>
          </a:prstGeom>
          <a:noFill/>
        </p:spPr>
        <p:txBody lIns="38100" tIns="25400" rIns="38100" bIns="25400">
          <a:bodyPr wrap="square">
            <a:spAutoFit/>
          </a:bodyPr>
          <a:lstStyle/>
          <a:p>
            <a:pPr algn="l">
              <a:spcBef>
                <a:spcPts val="300"/>
              </a:spcBef>
            </a:pPr>
            <a:r>
              <a:rPr sz="1000">
                <a:solidFill>
                  <a:srgbClr val="D8EAFF"/>
                </a:solidFill>
              </a:rPr>
              <a:t>Larios 12, 2ª planta</a:t>
            </a:r>
          </a:p>
          <a:p>
            <a:pPr algn="l">
              <a:spcBef>
                <a:spcPts val="300"/>
              </a:spcBef>
            </a:pPr>
            <a:r>
              <a:rPr sz="1000">
                <a:solidFill>
                  <a:srgbClr val="2FDFE5"/>
                </a:solidFill>
              </a:rPr>
              <a:t>+34 952 000 003</a:t>
            </a:r>
          </a:p>
          <a:p>
            <a:pPr algn="l">
              <a:spcBef>
                <a:spcPts val="300"/>
              </a:spcBef>
            </a:pPr>
            <a:r>
              <a:rPr sz="1000">
                <a:solidFill>
                  <a:srgbClr val="80A8CC"/>
                </a:solidFill>
              </a:rPr>
              <a:t>malaga@sendacredit.com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02920" y="6419088"/>
            <a:ext cx="4572000" cy="274320"/>
          </a:xfrm>
          <a:prstGeom prst="rect">
            <a:avLst/>
          </a:prstGeom>
          <a:noFill/>
        </p:spPr>
        <p:txBody lIns="0" tIns="25400" rIns="0" bIns="25400">
          <a:bodyPr wrap="none">
            <a:spAutoFit/>
          </a:bodyPr>
          <a:lstStyle/>
          <a:p>
            <a:pPr algn="l"/>
            <a:r>
              <a:rPr sz="950">
                <a:solidFill>
                  <a:srgbClr val="2FDFE5"/>
                </a:solidFill>
              </a:rPr>
              <a:t>www.sendacredit.com</a:t>
            </a:r>
          </a:p>
        </p:txBody>
      </p:sp>
      <p:pic>
        <p:nvPicPr>
          <p:cNvPr id="29" name="Picture 28" descr="logo_horiz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024567" y="6062197"/>
            <a:ext cx="1965960" cy="631211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" restart="whenNotActive" nodeType="tmRoot">
          <p:childTnLst>
            <p:seq concurrent="1" nextAc="seek">
              <p:cTn id="2" dur="indefin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5" fill="hold">
                            <p:stCondLst>
                              <p:cond delay="0"/>
                            </p:stCondLst>
                            <p:childTnLst>
                              <p:animEffect transition="in" filter="wipe(up)">
                                <p:cBhvr>
                                  <p:cTn id="6" dur="450" fill="hold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160"/>
                            </p:stCondLst>
                            <p:childTnLst>
                              <p:animEffect transition="in" filter="wipe(up)">
                                <p:cBhvr>
                                  <p:cTn id="8" dur="450" fill="hold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320"/>
                            </p:stCondLst>
                            <p:childTnLst>
                              <p:animEffect transition="in" filter="wipe(up)">
                                <p:cBhvr>
                                  <p:cTn id="10" dur="450" fill="hold"/>
                                  <p:tgtEl>
                                    <p:spTgt spid="23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Click" delay="0"/>
              </p:prevCondLst>
              <p:nextCondLst>
                <p:cond evt="onNextClick" delay="0"/>
              </p:nextCondLst>
            </p:seq>
          </p:childTnLst>
        </p:cTn>
      </p:par>
    </p:tnLst>
  </p:timing>
  <p:transition dur="550" spd="fast">
    <p:push dir="u"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