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building_cropp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015" y="0"/>
            <a:ext cx="6583680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608015" y="0"/>
            <a:ext cx="6583680" cy="6858000"/>
          </a:xfrm>
          <a:prstGeom prst="rect">
            <a:avLst/>
          </a:prstGeom>
          <a:solidFill>
            <a:srgbClr val="060E24">
              <a:alpha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569915" y="0"/>
            <a:ext cx="38100" cy="68580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rou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47472"/>
            <a:ext cx="1078992" cy="6258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1664208"/>
            <a:ext cx="5303520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000" b="1">
                <a:solidFill>
                  <a:srgbClr val="2FDFE5"/>
                </a:solidFill>
              </a:rPr>
              <a:t>SENDACREDIT GROUP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103120"/>
            <a:ext cx="292608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249424"/>
            <a:ext cx="5669280" cy="25603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</a:rPr>
              <a:t>Circuito de</a:t>
            </a:r>
          </a:p>
          <a:p>
            <a:pPr algn="l"/>
            <a:r>
              <a:rPr sz="4200" b="1">
                <a:solidFill>
                  <a:srgbClr val="FFFFFF"/>
                </a:solidFill>
              </a:rPr>
              <a:t>gestión de</a:t>
            </a:r>
          </a:p>
          <a:p>
            <a:pPr algn="l"/>
            <a:r>
              <a:rPr sz="4200" b="1">
                <a:solidFill>
                  <a:srgbClr val="2FDFE5"/>
                </a:solidFill>
              </a:rPr>
              <a:t>expedientes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846320"/>
            <a:ext cx="5303520" cy="47548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150" i="1">
                <a:solidFill>
                  <a:srgbClr val="C0E8FF"/>
                </a:solidFill>
              </a:rPr>
              <a:t>Propuesta de colaboración · Recuperación de deuda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31375" y="6400800"/>
            <a:ext cx="2377440" cy="310896"/>
          </a:xfrm>
          <a:prstGeom prst="rect">
            <a:avLst/>
          </a:prstGeom>
          <a:noFill/>
        </p:spPr>
        <p:txBody lIns="50800" tIns="25400" rIns="50800" bIns="25400">
          <a:bodyPr wrap="none">
            <a:spAutoFit/>
          </a:bodyPr>
          <a:lstStyle/>
          <a:p>
            <a:pPr algn="r"/>
            <a:r>
              <a:rPr sz="850">
                <a:solidFill>
                  <a:srgbClr val="80A8CC"/>
                </a:solidFill>
              </a:rPr>
              <a:t>2025 – 2026</a:t>
            </a:r>
          </a:p>
        </p:txBody>
      </p:sp>
    </p:spTree>
  </p:cSld>
  <p:clrMapOvr>
    <a:masterClrMapping/>
  </p:clrMapOvr>
  <p:transition dur="550" spd="fast">
    <p:push dir="u"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Inicio del </a:t>
            </a:r>
            <a:r>
              <a:rPr sz="4000" b="1">
                <a:solidFill>
                  <a:srgbClr val="2FDFE5"/>
                </a:solidFill>
              </a:rPr>
              <a:t>expediente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Cada caso entra en nuestro circuito con un punto de partida limpio, verificado y correctamente segmentado.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1  </a:t>
            </a:r>
            <a:r>
              <a:rPr sz="1900" b="1">
                <a:solidFill>
                  <a:srgbClr val="FFFFFF"/>
                </a:solidFill>
              </a:rPr>
              <a:t>Recepción e integración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Recepción de operaciones asignadas por nuestro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Validación de datos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Integración en la plataforma de gestión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2  </a:t>
            </a:r>
            <a:r>
              <a:rPr sz="1900" b="1">
                <a:solidFill>
                  <a:srgbClr val="FFFFFF"/>
                </a:solidFill>
              </a:rPr>
              <a:t>Clasificación y estrategia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Clasificación por antigüedad, importe, tipología y probabilidad de recuperación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Definición de la estrategia de gestión más adecuada para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Valoración de la actividad o sector del cliente para personalizar el enfoque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Activación y </a:t>
            </a:r>
            <a:r>
              <a:rPr sz="4000" b="1">
                <a:solidFill>
                  <a:srgbClr val="2FDFE5"/>
                </a:solidFill>
              </a:rPr>
              <a:t>contacto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Multiplicamos los canales de contacto y buscamos siempre la vía amistosa para llegar a un acuerdo.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3  </a:t>
            </a:r>
            <a:r>
              <a:rPr sz="1900" b="1">
                <a:solidFill>
                  <a:srgbClr val="FFFFFF"/>
                </a:solidFill>
              </a:rPr>
              <a:t>Contactación multicanal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Primeras comunicaciones: teléfono, SMS, email y mensajería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Verificación de datos de contacto y situación del cliente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Búsqueda activa de datos en no contactados o sin localización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4  </a:t>
            </a:r>
            <a:r>
              <a:rPr sz="1900" b="1">
                <a:solidFill>
                  <a:srgbClr val="FFFFFF"/>
                </a:solidFill>
              </a:rPr>
              <a:t>Acuerdos personalizados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la capacidad de pago del deudor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Propuesta de acuerdos personalizados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Formalización y seguimiento de planes de pago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Gestión </a:t>
            </a:r>
            <a:r>
              <a:rPr sz="4000" b="1">
                <a:solidFill>
                  <a:srgbClr val="2FDFE5"/>
                </a:solidFill>
              </a:rPr>
              <a:t>continuada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El seguimiento constante y la transparencia en el reporting mantienen cada expediente bajo control.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5  </a:t>
            </a:r>
            <a:r>
              <a:rPr sz="1900" b="1">
                <a:solidFill>
                  <a:srgbClr val="FFFFFF"/>
                </a:solidFill>
              </a:rPr>
              <a:t>Monitorización activa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Monitorización activa de los acuerdos alcanzados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Recordatorios preventivos de vencimiento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Reactivación inmediata ante incidencias o incumplimientos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6  </a:t>
            </a:r>
            <a:r>
              <a:rPr sz="1900" b="1">
                <a:solidFill>
                  <a:srgbClr val="FFFFFF"/>
                </a:solidFill>
              </a:rPr>
              <a:t>Reporting y resultados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Actualización permanente del estado de cada expediente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Informes periódicos de actividad y resultados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KPIs de recuperación y productividad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Cierre y </a:t>
            </a:r>
            <a:r>
              <a:rPr sz="4000" b="1">
                <a:solidFill>
                  <a:srgbClr val="2FDFE5"/>
                </a:solidFill>
              </a:rPr>
              <a:t>condiciones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10512"/>
            <a:ext cx="9265615" cy="384048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80A8CC"/>
                </a:solidFill>
              </a:rPr>
              <a:t>Solo facturamos cuando recuperamos: nuestros incentivos están alineados con los de nuestro cliente.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7  </a:t>
            </a:r>
            <a:r>
              <a:rPr sz="1900" b="1">
                <a:solidFill>
                  <a:srgbClr val="FFFFFF"/>
                </a:solidFill>
              </a:rPr>
              <a:t>Cierre del expediente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Expedientes recuperados o finalizados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Entrega de resultados y documentación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Análisis de rendimiento y propuestas de mejora continua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83299" y="2267712"/>
            <a:ext cx="5579211" cy="3328416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83299" y="2267712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4467" y="2487168"/>
            <a:ext cx="5176875" cy="640080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900" b="1">
                <a:solidFill>
                  <a:srgbClr val="2FDFE5"/>
                </a:solidFill>
              </a:rPr>
              <a:t>8  </a:t>
            </a:r>
            <a:r>
              <a:rPr sz="1900" b="1">
                <a:solidFill>
                  <a:srgbClr val="FFFFFF"/>
                </a:solidFill>
              </a:rPr>
              <a:t>Honorarios y condiciones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7891" y="3218688"/>
            <a:ext cx="5250027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7891" y="3345688"/>
            <a:ext cx="5250027" cy="2249424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Servicio de recobro amistoso a éxito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Retribución escalada según tipología de deuda</a:t>
            </a:r>
          </a:p>
          <a:p>
            <a:pPr algn="l">
              <a:spcBef>
                <a:spcPts val="1800"/>
              </a:spcBef>
            </a:pPr>
            <a:r>
              <a:rPr sz="1400">
                <a:solidFill>
                  <a:srgbClr val="2FDFE5"/>
                </a:solidFill>
              </a:rPr>
              <a:t>▸  </a:t>
            </a:r>
            <a:r>
              <a:rPr sz="1700">
                <a:solidFill>
                  <a:srgbClr val="D8EAFF"/>
                </a:solidFill>
              </a:rPr>
              <a:t>Sin costes fijos: solo pagamos si recuperamos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65760"/>
            <a:ext cx="1737360" cy="301752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FASE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731520"/>
            <a:ext cx="8961120" cy="96012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Servicios </a:t>
            </a:r>
            <a:r>
              <a:rPr sz="4000" b="1">
                <a:solidFill>
                  <a:srgbClr val="2FDFE5"/>
                </a:solidFill>
              </a:rPr>
              <a:t>adicionales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37360"/>
            <a:ext cx="4389120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1  </a:t>
            </a:r>
            <a:r>
              <a:rPr sz="1700" b="1">
                <a:solidFill>
                  <a:srgbClr val="FFFFFF"/>
                </a:solidFill>
              </a:rPr>
              <a:t>Vía monitoria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Tramitación de procedimientos monitorios para reclamar la deuda por vía judicial cuando la vía amistosa no es suficiente.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83299" y="1920240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83299" y="1920240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6179" y="2103120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2  </a:t>
            </a:r>
            <a:r>
              <a:rPr sz="1700" b="1">
                <a:solidFill>
                  <a:srgbClr val="FFFFFF"/>
                </a:solidFill>
              </a:rPr>
              <a:t>Acción disuasoria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29603" y="2779776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9603" y="2881376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Identificación visible de la gestión por parte de Sendacredit como elemento disuasorio frente al impago.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3  </a:t>
            </a:r>
            <a:r>
              <a:rPr sz="1700" b="1">
                <a:solidFill>
                  <a:srgbClr val="FFFFFF"/>
                </a:solidFill>
              </a:rPr>
              <a:t>Análisis de solvencia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Estudio de la capacidad económica real del deudor para orientar mejor la estrategia de recobro.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83299" y="4059936"/>
            <a:ext cx="5579211" cy="1993392"/>
          </a:xfrm>
          <a:prstGeom prst="rect">
            <a:avLst/>
          </a:prstGeom>
          <a:solidFill>
            <a:srgbClr val="081438"/>
          </a:solidFill>
          <a:ln w="1270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83299" y="4059936"/>
            <a:ext cx="5579211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6179" y="4242816"/>
            <a:ext cx="5213451" cy="585216"/>
          </a:xfrm>
          <a:prstGeom prst="rect">
            <a:avLst/>
          </a:prstGeom>
          <a:noFill/>
        </p:spPr>
        <p:txBody lIns="38100" tIns="63500" rIns="38100" bIns="25400">
          <a:bodyPr wrap="squar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4  </a:t>
            </a:r>
            <a:r>
              <a:rPr sz="1700" b="1">
                <a:solidFill>
                  <a:srgbClr val="FFFFFF"/>
                </a:solidFill>
              </a:rPr>
              <a:t>Ficheros de morosidad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29603" y="4919472"/>
            <a:ext cx="5286603" cy="1905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29603" y="5021072"/>
            <a:ext cx="5286603" cy="1005840"/>
          </a:xfrm>
          <a:prstGeom prst="rect">
            <a:avLst/>
          </a:prstGeom>
          <a:noFill/>
        </p:spPr>
        <p:txBody lIns="50800" tIns="50800" rIns="50800" bIns="50800">
          <a:bodyPr wrap="square">
            <a:spAutoFit/>
          </a:bodyPr>
          <a:lstStyle/>
          <a:p>
            <a:pPr algn="l"/>
            <a:r>
              <a:rPr sz="1500">
                <a:solidFill>
                  <a:srgbClr val="D8EAFF"/>
                </a:solidFill>
              </a:rPr>
              <a:t>Registro del deudor en ficheros de morosidad como medida adicional de presión y prevención.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380" fill="hold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8" dur="380" fill="hold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0" dur="38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2" dur="380" fill="hold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14" dur="380" fill="hold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6" dur="380" fill="hold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18" dur="380" fill="hold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0" dur="38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2" dur="380" fill="hold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40"/>
                            </p:stCondLst>
                            <p:childTnLst>
                              <p:animEffect transition="in" filter="wipe(up)">
                                <p:cBhvr>
                                  <p:cTn id="24" dur="380" fill="hold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6" dur="380" fill="hold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28" dur="380" fill="hold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0" dur="38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2" dur="380" fill="hold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280"/>
                            </p:stCondLst>
                            <p:childTnLst>
                              <p:animEffect transition="in" filter="wipe(up)">
                                <p:cBhvr>
                                  <p:cTn id="34" dur="380" fill="hold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6" dur="380" fill="hold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38" dur="380" fill="hold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0" dur="380" fill="hold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2" dur="380" fill="hold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420"/>
                            </p:stCondLst>
                            <p:childTnLst>
                              <p:animEffect transition="in" filter="wipe(up)">
                                <p:cBhvr>
                                  <p:cTn id="44" dur="380" fill="hold"/>
                                  <p:tgtEl>
                                    <p:spTgt spid="2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rou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4320"/>
            <a:ext cx="1024128" cy="59399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02920" y="1389888"/>
            <a:ext cx="1554480" cy="27432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 lIns="101600" tIns="25400" rIns="101600" bIns="25400">
          <a:bodyPr rtlCol="0" anchor="ctr" wrap="none"/>
          <a:lstStyle/>
          <a:p>
            <a:pPr algn="ctr"/>
            <a:r>
              <a:rPr sz="1100" b="1">
                <a:solidFill>
                  <a:srgbClr val="0A1638"/>
                </a:solidFill>
              </a:rPr>
              <a:t>CONTACTO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323015" cy="1005840"/>
          </a:xfrm>
          <a:prstGeom prst="rect">
            <a:avLst/>
          </a:prstGeom>
          <a:noFill/>
        </p:spPr>
        <p:txBody lIns="0" tIns="0" rIns="0" bIns="0"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</a:rPr>
              <a:t>Hablemos de tu </a:t>
            </a:r>
          </a:p>
          <a:p>
            <a:pPr algn="l"/>
            <a:r>
              <a:rPr sz="3800" b="1">
                <a:solidFill>
                  <a:srgbClr val="2FDFE5"/>
                </a:solidFill>
              </a:rPr>
              <a:t>cartera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16352"/>
            <a:ext cx="11323015" cy="3175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944368"/>
            <a:ext cx="11323015" cy="402336"/>
          </a:xfrm>
          <a:prstGeom prst="rect">
            <a:avLst/>
          </a:prstGeom>
          <a:noFill/>
        </p:spPr>
        <p:txBody lIns="0" tIns="0" rIns="0" bIns="0">
          <a:bodyPr wrap="none">
            <a:spAutoFit/>
          </a:bodyPr>
          <a:lstStyle/>
          <a:p>
            <a:pPr algn="l"/>
            <a:r>
              <a:rPr sz="1300" i="1">
                <a:solidFill>
                  <a:srgbClr val="C0E8FF"/>
                </a:solidFill>
              </a:rPr>
              <a:t>Nuestros equipos están disponibles para comenzar de inmediato.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547872"/>
            <a:ext cx="3603650" cy="251460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54787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376732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MADRID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420624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33324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Gran Vía 28, 4ª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+34 910 000 001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madrid@sendacredit.com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0890" y="3547872"/>
            <a:ext cx="3603650" cy="251460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80890" y="354787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82058" y="376732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BARCELONA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5482" y="420624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2058" y="433324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Diagonal 211, 3ª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+34 932 000 002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barcelona@sendacredit.com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58860" y="3547872"/>
            <a:ext cx="3603650" cy="2514600"/>
          </a:xfrm>
          <a:prstGeom prst="rect">
            <a:avLst/>
          </a:prstGeom>
          <a:solidFill>
            <a:srgbClr val="081438"/>
          </a:solidFill>
          <a:ln w="10160">
            <a:solidFill>
              <a:srgbClr val="2FDF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58860" y="3547872"/>
            <a:ext cx="3603650" cy="63500"/>
          </a:xfrm>
          <a:prstGeom prst="rect">
            <a:avLst/>
          </a:prstGeom>
          <a:solidFill>
            <a:srgbClr val="2FDF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0028" y="3767328"/>
            <a:ext cx="3201314" cy="384048"/>
          </a:xfrm>
          <a:prstGeom prst="rect">
            <a:avLst/>
          </a:prstGeom>
          <a:noFill/>
        </p:spPr>
        <p:txBody lIns="38100" tIns="25400" rIns="38100" bIns="25400">
          <a:bodyPr wrap="none">
            <a:spAutoFit/>
          </a:bodyPr>
          <a:lstStyle/>
          <a:p>
            <a:pPr algn="l"/>
            <a:r>
              <a:rPr sz="1700" b="1">
                <a:solidFill>
                  <a:srgbClr val="2FDFE5"/>
                </a:solidFill>
              </a:rPr>
              <a:t>MÁLAGA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3452" y="4206240"/>
            <a:ext cx="3274466" cy="12700"/>
          </a:xfrm>
          <a:prstGeom prst="rect">
            <a:avLst/>
          </a:prstGeom>
          <a:solidFill>
            <a:srgbClr val="13B9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60028" y="4333240"/>
            <a:ext cx="3201314" cy="1572768"/>
          </a:xfrm>
          <a:prstGeom prst="rect">
            <a:avLst/>
          </a:prstGeom>
          <a:noFill/>
        </p:spPr>
        <p:txBody lIns="38100" tIns="38100" rIns="38100" bIns="38100">
          <a:bodyPr wrap="square">
            <a:spAutoFit/>
          </a:bodyPr>
          <a:lstStyle/>
          <a:p>
            <a:pPr algn="l">
              <a:spcBef>
                <a:spcPts val="800"/>
              </a:spcBef>
            </a:pPr>
            <a:r>
              <a:rPr sz="1300">
                <a:solidFill>
                  <a:srgbClr val="D8EAFF"/>
                </a:solidFill>
              </a:rPr>
              <a:t>Larios 12, 2ª planta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2FDFE5"/>
                </a:solidFill>
              </a:rPr>
              <a:t>+34 952 000 003</a:t>
            </a:r>
          </a:p>
          <a:p>
            <a:pPr algn="l">
              <a:spcBef>
                <a:spcPts val="800"/>
              </a:spcBef>
            </a:pPr>
            <a:r>
              <a:rPr sz="1300">
                <a:solidFill>
                  <a:srgbClr val="80A8CC"/>
                </a:solidFill>
              </a:rPr>
              <a:t>malaga@sendacredit.com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37376"/>
            <a:ext cx="5486400" cy="274320"/>
          </a:xfrm>
          <a:prstGeom prst="rect">
            <a:avLst/>
          </a:prstGeom>
          <a:noFill/>
        </p:spPr>
        <p:txBody lIns="0" tIns="25400" rIns="0" bIns="25400">
          <a:bodyPr wrap="none">
            <a:spAutoFit/>
          </a:bodyPr>
          <a:lstStyle/>
          <a:p>
            <a:pPr algn="l"/>
            <a:r>
              <a:rPr sz="1000">
                <a:solidFill>
                  <a:srgbClr val="2FDFE5"/>
                </a:solidFill>
              </a:rPr>
              <a:t>www.sendacredit.com</a:t>
            </a:r>
          </a:p>
        </p:txBody>
      </p:sp>
    </p:spTree>
  </p:cSld>
  <p:clrMapOvr>
    <a:masterClrMapping/>
  </p:clrMapOvr>
  <p:timing>
    <p:tnLst>
      <p:par>
        <p:cTn id="1" dur="indefin" restart="whenNotActive" nodeType="tmRoot">
          <p:childTnLst>
            <p:seq concurrent="1" nextAc="seek">
              <p:cTn id="2" dur="indefin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animEffect transition="in" filter="wipe(up)">
                                <p:cBhvr>
                                  <p:cTn id="6" dur="450" fill="hold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60"/>
                            </p:stCondLst>
                            <p:childTnLst>
                              <p:animEffect transition="in" filter="wipe(up)">
                                <p:cBhvr>
                                  <p:cTn id="8" dur="450" fill="hold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20"/>
                            </p:stCondLst>
                            <p:childTnLst>
                              <p:animEffect transition="in" filter="wipe(up)">
                                <p:cBhvr>
                                  <p:cTn id="10" dur="450" fill="hold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Click" delay="0"/>
              </p:prevCondLst>
              <p:nextCondLst>
                <p:cond evt="onNextClick" delay="0"/>
              </p:nextCondLst>
            </p:seq>
          </p:childTnLst>
        </p:cTn>
      </p:par>
    </p:tnLst>
  </p:timing>
  <p:transition dur="550" spd="fast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