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18927" y="182880"/>
            <a:ext cx="1188720" cy="1188720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26953" y="390906"/>
            <a:ext cx="772668" cy="772668"/>
          </a:xfrm>
          <a:prstGeom prst="ellipse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18927" y="182880"/>
            <a:ext cx="1188720" cy="118872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300"/>
              </a:spcBef>
            </a:pPr>
            <a:r>
              <a:rPr sz="22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8927" y="777240"/>
            <a:ext cx="1188720" cy="5943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RECEPCIÓN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pic>
        <p:nvPicPr>
          <p:cNvPr id="13" name="Picture 12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4088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663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24" name="Oval 23"/>
          <p:cNvSpPr/>
          <p:nvPr/>
        </p:nvSpPr>
        <p:spPr>
          <a:xfrm>
            <a:off x="1124712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1288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84467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4701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4467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4" name="Oval 33"/>
          <p:cNvSpPr/>
          <p:nvPr/>
        </p:nvSpPr>
        <p:spPr>
          <a:xfrm>
            <a:off x="6905091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5091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1667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7891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7891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18927" y="182880"/>
            <a:ext cx="1188720" cy="1188720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26953" y="390906"/>
            <a:ext cx="772668" cy="772668"/>
          </a:xfrm>
          <a:prstGeom prst="ellipse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18927" y="182880"/>
            <a:ext cx="1188720" cy="118872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300"/>
              </a:spcBef>
            </a:pPr>
            <a:r>
              <a:rPr sz="2200" b="1">
                <a:solidFill>
                  <a:srgbClr val="2FDFE5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8927" y="777240"/>
            <a:ext cx="1188720" cy="5943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GESTIÓN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pic>
        <p:nvPicPr>
          <p:cNvPr id="13" name="Picture 12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4088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663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24" name="Oval 23"/>
          <p:cNvSpPr/>
          <p:nvPr/>
        </p:nvSpPr>
        <p:spPr>
          <a:xfrm>
            <a:off x="1124712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1288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84467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4701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4467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4" name="Oval 33"/>
          <p:cNvSpPr/>
          <p:nvPr/>
        </p:nvSpPr>
        <p:spPr>
          <a:xfrm>
            <a:off x="6905091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5091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1667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7891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7891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18927" y="182880"/>
            <a:ext cx="1188720" cy="1188720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26953" y="390906"/>
            <a:ext cx="772668" cy="772668"/>
          </a:xfrm>
          <a:prstGeom prst="ellipse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18927" y="182880"/>
            <a:ext cx="1188720" cy="118872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300"/>
              </a:spcBef>
            </a:pPr>
            <a:r>
              <a:rPr sz="2200" b="1">
                <a:solidFill>
                  <a:srgbClr val="2FDFE5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8927" y="777240"/>
            <a:ext cx="1188720" cy="5943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JUDICIAL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pic>
        <p:nvPicPr>
          <p:cNvPr id="13" name="Picture 12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4088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663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24" name="Oval 23"/>
          <p:cNvSpPr/>
          <p:nvPr/>
        </p:nvSpPr>
        <p:spPr>
          <a:xfrm>
            <a:off x="1124712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1288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84467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4701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4467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4" name="Oval 33"/>
          <p:cNvSpPr/>
          <p:nvPr/>
        </p:nvSpPr>
        <p:spPr>
          <a:xfrm>
            <a:off x="6905091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5091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1667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7891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7891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18927" y="182880"/>
            <a:ext cx="1188720" cy="1188720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26953" y="390906"/>
            <a:ext cx="772668" cy="772668"/>
          </a:xfrm>
          <a:prstGeom prst="ellipse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18927" y="182880"/>
            <a:ext cx="1188720" cy="118872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300"/>
              </a:spcBef>
            </a:pPr>
            <a:r>
              <a:rPr sz="2200" b="1">
                <a:solidFill>
                  <a:srgbClr val="2FDFE5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8927" y="777240"/>
            <a:ext cx="1188720" cy="5943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REPORTING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pic>
        <p:nvPicPr>
          <p:cNvPr id="13" name="Picture 12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4088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663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24" name="Oval 23"/>
          <p:cNvSpPr/>
          <p:nvPr/>
        </p:nvSpPr>
        <p:spPr>
          <a:xfrm>
            <a:off x="1124712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24712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61288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83299" y="2267712"/>
            <a:ext cx="5579211" cy="3785616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84467" y="2450592"/>
            <a:ext cx="329184" cy="329184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547012" y="2513136"/>
            <a:ext cx="204094" cy="204094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4467" y="2450592"/>
            <a:ext cx="329184" cy="329184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4" name="Oval 33"/>
          <p:cNvSpPr/>
          <p:nvPr/>
        </p:nvSpPr>
        <p:spPr>
          <a:xfrm>
            <a:off x="6905091" y="2487168"/>
            <a:ext cx="201168" cy="201168"/>
          </a:xfrm>
          <a:prstGeom prst="ellipse">
            <a:avLst/>
          </a:prstGeom>
          <a:solidFill>
            <a:srgbClr val="0A1638"/>
          </a:solidFill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5091" y="2487168"/>
            <a:ext cx="201168" cy="201168"/>
          </a:xfrm>
          <a:prstGeom prst="rect">
            <a:avLst/>
          </a:prstGeom>
          <a:noFill/>
        </p:spPr>
        <p:txBody lIns="0" tIns="12700" rIns="0" bIns="0">
          <a:bodyPr wrap="none">
            <a:spAutoFit/>
          </a:bodyPr>
          <a:lstStyle/>
          <a:p>
            <a:pPr algn="ctr"/>
            <a:r>
              <a:rPr sz="1100" b="1">
                <a:solidFill>
                  <a:srgbClr val="2FDFE5"/>
                </a:solidFill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1667" y="2450592"/>
            <a:ext cx="4792827" cy="65836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47891" y="2907792"/>
            <a:ext cx="5250027" cy="1524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7891" y="2996692"/>
            <a:ext cx="5250027" cy="2959608"/>
          </a:xfrm>
          <a:prstGeom prst="rect">
            <a:avLst/>
          </a:prstGeom>
          <a:noFill/>
        </p:spPr>
        <p:txBody lIns="50800" tIns="38100" rIns="50800" bIns="38100"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400"/>
              </a:spcBef>
            </a:pPr>
            <a:r>
              <a:rPr sz="1100">
                <a:solidFill>
                  <a:srgbClr val="2FDFE5"/>
                </a:solidFill>
              </a:rPr>
              <a:t>▸  </a:t>
            </a:r>
            <a:r>
              <a:rPr sz="1200">
                <a:solidFill>
                  <a:srgbClr val="D8EAFF"/>
                </a:solidFill>
              </a:rPr>
              <a:t>Sin costes fijos: solo pagamos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18927" y="182880"/>
            <a:ext cx="1188720" cy="1188720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826953" y="390906"/>
            <a:ext cx="772668" cy="772668"/>
          </a:xfrm>
          <a:prstGeom prst="ellipse">
            <a:avLst/>
          </a:prstGeom>
          <a:solidFill>
            <a:srgbClr val="0A1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18927" y="182880"/>
            <a:ext cx="1188720" cy="118872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300"/>
              </a:spcBef>
            </a:pPr>
            <a:r>
              <a:rPr sz="2200" b="1">
                <a:solidFill>
                  <a:srgbClr val="2FDFE5"/>
                </a:solidFill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8927" y="777240"/>
            <a:ext cx="1188720" cy="594360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65760"/>
            <a:ext cx="146304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FASE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_hori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555406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0552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05698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8445" y="6510528"/>
            <a:ext cx="77724" cy="77724"/>
          </a:xfrm>
          <a:prstGeom prst="ellipse">
            <a:avLst/>
          </a:prstGeom>
          <a:noFill/>
          <a:ln w="10160">
            <a:solidFill>
              <a:srgbClr val="13B9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59905" y="6510528"/>
            <a:ext cx="77724" cy="77724"/>
          </a:xfrm>
          <a:prstGeom prst="ellipse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084832"/>
            <a:ext cx="292608" cy="292608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1395" y="2140427"/>
            <a:ext cx="181416" cy="181416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084832"/>
            <a:ext cx="292608" cy="29260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2084832"/>
            <a:ext cx="488426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" y="248716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2563368"/>
            <a:ext cx="5286603" cy="127152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66179" y="2084832"/>
            <a:ext cx="292608" cy="292608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21775" y="2140427"/>
            <a:ext cx="181416" cy="181416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66179" y="2084832"/>
            <a:ext cx="292608" cy="29260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68515" y="2084832"/>
            <a:ext cx="488426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29603" y="2487168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9603" y="2563368"/>
            <a:ext cx="5286603" cy="127152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224528"/>
            <a:ext cx="292608" cy="292608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41395" y="4280123"/>
            <a:ext cx="181416" cy="181416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224528"/>
            <a:ext cx="292608" cy="29260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" y="4224528"/>
            <a:ext cx="488426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" y="4626864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9224" y="4703064"/>
            <a:ext cx="5286603" cy="127152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66179" y="4224528"/>
            <a:ext cx="292608" cy="292608"/>
          </a:xfrm>
          <a:prstGeom prst="ellipse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21775" y="4280123"/>
            <a:ext cx="181416" cy="181416"/>
          </a:xfrm>
          <a:prstGeom prst="ellipse">
            <a:avLst/>
          </a:prstGeom>
          <a:solidFill>
            <a:srgbClr val="088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66179" y="4224528"/>
            <a:ext cx="292608" cy="29260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68515" y="4224528"/>
            <a:ext cx="4884267" cy="566928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29603" y="4626864"/>
            <a:ext cx="5286603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9603" y="4703064"/>
            <a:ext cx="5286603" cy="1271524"/>
          </a:xfrm>
          <a:prstGeom prst="rect">
            <a:avLst/>
          </a:prstGeom>
          <a:noFill/>
        </p:spPr>
        <p:txBody lIns="50800" tIns="25400" rIns="50800" bIns="25400">
          <a:bodyPr wrap="square">
            <a:spAutoFit/>
          </a:bodyPr>
          <a:lstStyle/>
          <a:p>
            <a:pPr algn="l"/>
            <a:r>
              <a:rPr sz="115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80"/>
                            </p:stCondLst>
                            <p:childTnLst>
                              <p:animEffect transition="in" filter="wipe(up)">
                                <p:cBhvr>
                                  <p:cTn id="12" dur="450" fill="hold"/>
                                  <p:tgtEl>
                                    <p:spTgt spid="4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071055" y="0"/>
            <a:ext cx="5120640" cy="6858000"/>
          </a:xfrm>
          <a:prstGeom prst="rect">
            <a:avLst/>
          </a:prstGeom>
          <a:solidFill>
            <a:srgbClr val="060E24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3295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0896"/>
            <a:ext cx="1024128" cy="59399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1417320"/>
            <a:ext cx="1554480" cy="274320"/>
          </a:xfrm>
          <a:prstGeom prst="rect">
            <a:avLst/>
          </a:prstGeom>
          <a:noFill/>
          <a:ln w="1524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76200" tIns="12700" rIns="76200" bIns="12700">
          <a:bodyPr rtlCol="0" anchor="ctr" wrap="none"/>
          <a:lstStyle/>
          <a:p>
            <a:pPr algn="ctr"/>
            <a:r>
              <a:rPr sz="8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01368"/>
            <a:ext cx="5852160" cy="105156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0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34640"/>
            <a:ext cx="34747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71800"/>
            <a:ext cx="5669280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25496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5496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53512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53512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53512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48072" y="3401568"/>
            <a:ext cx="2157984" cy="192024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48072" y="3401568"/>
            <a:ext cx="2157984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6088" y="3557016"/>
            <a:ext cx="1901952" cy="310896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3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76088" y="3904488"/>
            <a:ext cx="1901952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6088" y="3980688"/>
            <a:ext cx="1901952" cy="1234440"/>
          </a:xfrm>
          <a:prstGeom prst="rect">
            <a:avLst/>
          </a:prstGeom>
          <a:noFill/>
        </p:spPr>
        <p:txBody lIns="38100" tIns="25400" rIns="38100" bIns="25400">
          <a:bodyPr wrap="square">
            <a:spAutoFit/>
          </a:bodyPr>
          <a:lstStyle/>
          <a:p>
            <a:pPr algn="l">
              <a:spcBef>
                <a:spcPts val="300"/>
              </a:spcBef>
            </a:pPr>
            <a:r>
              <a:rPr sz="10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300"/>
              </a:spcBef>
            </a:pPr>
            <a:r>
              <a:rPr sz="10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45720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950">
                <a:solidFill>
                  <a:srgbClr val="2FDFE5"/>
                </a:solidFill>
              </a:rPr>
              <a:t>www.sendacredit.com</a:t>
            </a:r>
          </a:p>
        </p:txBody>
      </p:sp>
      <p:pic>
        <p:nvPicPr>
          <p:cNvPr id="29" name="Picture 28" descr="logo_hori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24567" y="6062197"/>
            <a:ext cx="1965960" cy="63121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