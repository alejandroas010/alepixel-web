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68880"/>
            <a:ext cx="5176875" cy="621792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1  </a:t>
            </a:r>
            <a:r>
              <a:rPr sz="18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18211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283712"/>
            <a:ext cx="5250027" cy="268528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68880"/>
            <a:ext cx="5176875" cy="621792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2  </a:t>
            </a:r>
            <a:r>
              <a:rPr sz="18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18211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283712"/>
            <a:ext cx="5250027" cy="268528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  <p:pic>
        <p:nvPicPr>
          <p:cNvPr id="19" name="Picture 1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68880"/>
            <a:ext cx="5176875" cy="621792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3  </a:t>
            </a:r>
            <a:r>
              <a:rPr sz="18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18211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283712"/>
            <a:ext cx="5250027" cy="268528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68880"/>
            <a:ext cx="5176875" cy="621792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4  </a:t>
            </a:r>
            <a:r>
              <a:rPr sz="18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18211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283712"/>
            <a:ext cx="5250027" cy="268528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Formalización y seguimiento de planes de pago</a:t>
            </a:r>
          </a:p>
        </p:txBody>
      </p:sp>
      <p:pic>
        <p:nvPicPr>
          <p:cNvPr id="19" name="Picture 1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68880"/>
            <a:ext cx="5176875" cy="621792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5  </a:t>
            </a:r>
            <a:r>
              <a:rPr sz="18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18211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283712"/>
            <a:ext cx="5250027" cy="268528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68880"/>
            <a:ext cx="5176875" cy="621792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6  </a:t>
            </a:r>
            <a:r>
              <a:rPr sz="18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18211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283712"/>
            <a:ext cx="5250027" cy="268528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KPIs de recuperación y productividad</a:t>
            </a:r>
          </a:p>
        </p:txBody>
      </p:sp>
      <p:pic>
        <p:nvPicPr>
          <p:cNvPr id="19" name="Picture 1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68880"/>
            <a:ext cx="5176875" cy="621792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7  </a:t>
            </a:r>
            <a:r>
              <a:rPr sz="18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18211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283712"/>
            <a:ext cx="5250027" cy="268528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68880"/>
            <a:ext cx="5176875" cy="621792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800" b="1">
                <a:solidFill>
                  <a:srgbClr val="2FDFE5"/>
                </a:solidFill>
              </a:rPr>
              <a:t>8  </a:t>
            </a:r>
            <a:r>
              <a:rPr sz="18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18211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283712"/>
            <a:ext cx="5250027" cy="268528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500"/>
              </a:spcBef>
            </a:pPr>
            <a:r>
              <a:rPr sz="1300">
                <a:solidFill>
                  <a:srgbClr val="2FDFE5"/>
                </a:solidFill>
              </a:rPr>
              <a:t>▸  </a:t>
            </a:r>
            <a:r>
              <a:rPr sz="1400">
                <a:solidFill>
                  <a:srgbClr val="D8EAFF"/>
                </a:solidFill>
              </a:rPr>
              <a:t>Sin costes fijos: solo pagamos si recuperamos</a:t>
            </a:r>
          </a:p>
        </p:txBody>
      </p:sp>
      <p:pic>
        <p:nvPicPr>
          <p:cNvPr id="19" name="Picture 18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5213451" cy="548640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24912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13812"/>
            <a:ext cx="5286603" cy="103378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4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084832"/>
            <a:ext cx="5213451" cy="548640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24912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13812"/>
            <a:ext cx="5286603" cy="103378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40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24528"/>
            <a:ext cx="5213451" cy="548640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86460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4953508"/>
            <a:ext cx="5286603" cy="103378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4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24528"/>
            <a:ext cx="5213451" cy="548640"/>
          </a:xfrm>
          <a:prstGeom prst="rect">
            <a:avLst/>
          </a:prstGeom>
          <a:noFill/>
        </p:spPr>
        <p:txBody lIns="38100" tIns="508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86460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4953508"/>
            <a:ext cx="5286603" cy="1033780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40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  <p:pic>
        <p:nvPicPr>
          <p:cNvPr id="28" name="Picture 27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24128" cy="5939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417320"/>
            <a:ext cx="155448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5852160" cy="10515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0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34747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5669280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5496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3512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3512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53512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8072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8072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6088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6088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9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